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16" r:id="rId3"/>
    <p:sldId id="257" r:id="rId4"/>
    <p:sldId id="311" r:id="rId5"/>
    <p:sldId id="312" r:id="rId6"/>
    <p:sldId id="313" r:id="rId7"/>
    <p:sldId id="314" r:id="rId8"/>
    <p:sldId id="281" r:id="rId9"/>
    <p:sldId id="280" r:id="rId10"/>
    <p:sldId id="260" r:id="rId11"/>
    <p:sldId id="262" r:id="rId12"/>
    <p:sldId id="283" r:id="rId13"/>
    <p:sldId id="299" r:id="rId14"/>
    <p:sldId id="284" r:id="rId15"/>
    <p:sldId id="265" r:id="rId16"/>
    <p:sldId id="285" r:id="rId17"/>
    <p:sldId id="315" r:id="rId18"/>
    <p:sldId id="267" r:id="rId19"/>
    <p:sldId id="286" r:id="rId20"/>
    <p:sldId id="287" r:id="rId21"/>
    <p:sldId id="288" r:id="rId22"/>
    <p:sldId id="306" r:id="rId23"/>
    <p:sldId id="307" r:id="rId24"/>
    <p:sldId id="271" r:id="rId25"/>
    <p:sldId id="308" r:id="rId26"/>
    <p:sldId id="272" r:id="rId27"/>
    <p:sldId id="289" r:id="rId28"/>
    <p:sldId id="290" r:id="rId29"/>
    <p:sldId id="291" r:id="rId30"/>
    <p:sldId id="310" r:id="rId31"/>
    <p:sldId id="276" r:id="rId32"/>
    <p:sldId id="292" r:id="rId33"/>
    <p:sldId id="293" r:id="rId34"/>
    <p:sldId id="27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16"/>
    <p:restoredTop sz="84108"/>
  </p:normalViewPr>
  <p:slideViewPr>
    <p:cSldViewPr snapToGrid="0" snapToObjects="1">
      <p:cViewPr varScale="1">
        <p:scale>
          <a:sx n="183" d="100"/>
          <a:sy n="183" d="100"/>
        </p:scale>
        <p:origin x="1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Evolutionary Search</c:v>
                </c:pt>
              </c:strCache>
            </c:strRef>
          </c:tx>
          <c:spPr>
            <a:ln w="44450" cap="flat">
              <a:solidFill>
                <a:srgbClr val="66BB6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6BB6A"/>
              </a:solidFill>
              <a:ln w="9525" cap="flat">
                <a:solidFill>
                  <a:srgbClr val="66BB6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34</c:v>
                </c:pt>
                <c:pt idx="2">
                  <c:v>55</c:v>
                </c:pt>
                <c:pt idx="3">
                  <c:v>68</c:v>
                </c:pt>
                <c:pt idx="4">
                  <c:v>77</c:v>
                </c:pt>
                <c:pt idx="5">
                  <c:v>84</c:v>
                </c:pt>
                <c:pt idx="6">
                  <c:v>88</c:v>
                </c:pt>
                <c:pt idx="7">
                  <c:v>91</c:v>
                </c:pt>
                <c:pt idx="8">
                  <c:v>93</c:v>
                </c:pt>
                <c:pt idx="9">
                  <c:v>94</c:v>
                </c:pt>
                <c:pt idx="10">
                  <c:v>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1C-DB4B-9E4A-9E474CAE59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Search</c:v>
                </c:pt>
              </c:strCache>
            </c:strRef>
          </c:tx>
          <c:spPr>
            <a:ln w="44450" cap="flat">
              <a:solidFill>
                <a:srgbClr val="9AA9B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A9B8"/>
              </a:solidFill>
              <a:ln w="9525" cap="flat">
                <a:solidFill>
                  <a:srgbClr val="9AA9B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28</c:v>
                </c:pt>
                <c:pt idx="4">
                  <c:v>32</c:v>
                </c:pt>
                <c:pt idx="5">
                  <c:v>35</c:v>
                </c:pt>
                <c:pt idx="6">
                  <c:v>38</c:v>
                </c:pt>
                <c:pt idx="7">
                  <c:v>41</c:v>
                </c:pt>
                <c:pt idx="8">
                  <c:v>43</c:v>
                </c:pt>
                <c:pt idx="9">
                  <c:v>45</c:v>
                </c:pt>
                <c:pt idx="10">
                  <c:v>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61C-DB4B-9E4A-9E474CAE59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C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6B7C"/>
                    </a:solidFill>
                    <a:latin typeface="Arial"/>
                  </a:rPr>
                  <a:t>Generation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D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C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6B7C"/>
                    </a:solidFill>
                    <a:latin typeface="Arial"/>
                  </a:rPr>
                  <a:t>Best fitness found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B3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route fitness</c:v>
                </c:pt>
              </c:strCache>
            </c:strRef>
          </c:tx>
          <c:spPr>
            <a:ln w="44450" cap="flat">
              <a:solidFill>
                <a:srgbClr val="66BB6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1</c:v>
                </c:pt>
                <c:pt idx="4">
                  <c:v>5</c:v>
                </c:pt>
                <c:pt idx="9">
                  <c:v>10</c:v>
                </c:pt>
                <c:pt idx="14">
                  <c:v>15</c:v>
                </c:pt>
                <c:pt idx="19">
                  <c:v>20</c:v>
                </c:pt>
                <c:pt idx="24">
                  <c:v>25</c:v>
                </c:pt>
                <c:pt idx="29">
                  <c:v>30</c:v>
                </c:pt>
                <c:pt idx="34">
                  <c:v>35</c:v>
                </c:pt>
                <c:pt idx="39">
                  <c:v>40</c:v>
                </c:pt>
                <c:pt idx="44">
                  <c:v>45</c:v>
                </c:pt>
                <c:pt idx="49">
                  <c:v>50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45.5</c:v>
                </c:pt>
                <c:pt idx="1">
                  <c:v>48.7</c:v>
                </c:pt>
                <c:pt idx="2">
                  <c:v>51.8</c:v>
                </c:pt>
                <c:pt idx="3">
                  <c:v>54.6</c:v>
                </c:pt>
                <c:pt idx="4">
                  <c:v>57.2</c:v>
                </c:pt>
                <c:pt idx="5">
                  <c:v>59.7</c:v>
                </c:pt>
                <c:pt idx="6">
                  <c:v>63</c:v>
                </c:pt>
                <c:pt idx="7">
                  <c:v>65.099999999999994</c:v>
                </c:pt>
                <c:pt idx="8">
                  <c:v>67.2</c:v>
                </c:pt>
                <c:pt idx="9">
                  <c:v>69.099999999999994</c:v>
                </c:pt>
                <c:pt idx="10">
                  <c:v>70.900000000000006</c:v>
                </c:pt>
                <c:pt idx="11">
                  <c:v>72.5</c:v>
                </c:pt>
                <c:pt idx="12">
                  <c:v>74.099999999999994</c:v>
                </c:pt>
                <c:pt idx="13">
                  <c:v>76.5</c:v>
                </c:pt>
                <c:pt idx="14">
                  <c:v>77.900000000000006</c:v>
                </c:pt>
                <c:pt idx="15">
                  <c:v>79.2</c:v>
                </c:pt>
                <c:pt idx="16">
                  <c:v>80.400000000000006</c:v>
                </c:pt>
                <c:pt idx="17">
                  <c:v>81.5</c:v>
                </c:pt>
                <c:pt idx="18">
                  <c:v>82.6</c:v>
                </c:pt>
                <c:pt idx="19">
                  <c:v>83.6</c:v>
                </c:pt>
                <c:pt idx="20">
                  <c:v>85.5</c:v>
                </c:pt>
                <c:pt idx="21">
                  <c:v>86.4</c:v>
                </c:pt>
                <c:pt idx="22">
                  <c:v>87.2</c:v>
                </c:pt>
                <c:pt idx="23">
                  <c:v>88</c:v>
                </c:pt>
                <c:pt idx="24">
                  <c:v>88.7</c:v>
                </c:pt>
                <c:pt idx="25">
                  <c:v>89.5</c:v>
                </c:pt>
                <c:pt idx="26">
                  <c:v>90.1</c:v>
                </c:pt>
                <c:pt idx="27">
                  <c:v>91.7</c:v>
                </c:pt>
                <c:pt idx="28">
                  <c:v>92.3</c:v>
                </c:pt>
                <c:pt idx="29">
                  <c:v>92.9</c:v>
                </c:pt>
                <c:pt idx="30">
                  <c:v>93.4</c:v>
                </c:pt>
                <c:pt idx="31">
                  <c:v>93.9</c:v>
                </c:pt>
                <c:pt idx="32">
                  <c:v>94</c:v>
                </c:pt>
                <c:pt idx="33">
                  <c:v>94</c:v>
                </c:pt>
                <c:pt idx="34">
                  <c:v>94</c:v>
                </c:pt>
                <c:pt idx="35">
                  <c:v>94</c:v>
                </c:pt>
                <c:pt idx="36">
                  <c:v>94</c:v>
                </c:pt>
                <c:pt idx="37">
                  <c:v>94</c:v>
                </c:pt>
                <c:pt idx="38">
                  <c:v>94</c:v>
                </c:pt>
                <c:pt idx="39">
                  <c:v>94</c:v>
                </c:pt>
                <c:pt idx="40">
                  <c:v>94</c:v>
                </c:pt>
                <c:pt idx="41">
                  <c:v>94</c:v>
                </c:pt>
                <c:pt idx="42">
                  <c:v>94</c:v>
                </c:pt>
                <c:pt idx="43">
                  <c:v>94</c:v>
                </c:pt>
                <c:pt idx="44">
                  <c:v>94</c:v>
                </c:pt>
                <c:pt idx="45">
                  <c:v>94</c:v>
                </c:pt>
                <c:pt idx="46">
                  <c:v>94</c:v>
                </c:pt>
                <c:pt idx="47">
                  <c:v>94</c:v>
                </c:pt>
                <c:pt idx="48">
                  <c:v>94</c:v>
                </c:pt>
                <c:pt idx="49">
                  <c:v>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1D6-5543-9042-22A6E96CF3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C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6B7C"/>
                    </a:solidFill>
                    <a:latin typeface="Arial"/>
                  </a:rPr>
                  <a:t>Generation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7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12700" cap="flat">
              <a:solidFill>
                <a:srgbClr val="DD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C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6B7C"/>
                    </a:solidFill>
                    <a:latin typeface="Arial"/>
                  </a:rPr>
                  <a:t>Route fitness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96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explore genetic algorithms — an evolutionary branch of AI — and build up to a working air-freight routing optimizer in C# and .NET.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 — background as developer, architect, speaker. Set up credibility with .NET and AI work. Swap in headshot and correct social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I tell you why you'd want one, let me just tell you what it is. One sentence: a GA finds good solutions by evolving them — breed candidates, keep the best, combine, repeat. Everything else in this talk is elaboration on those five 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people say AI in 2026 they mean the left branch — deep learning and LLMs. Today we take the middle path: search and optimization. It's older, cheaper, runs on your laptop, and it's surprisingly practical. Genetic algorithms are its most famous resident.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only a few strategies for searching a huge space — watch each on the same terrain. Brute force checks everything and dies at n factorial. Hill climbing sprints uphill and gets stuck on the first peak. Random search escapes traps but learns nothing. A genetic algorithm is the best of both: a population that concentrates, generation by generation, on the global peak. Remember the n! wall — it comes back in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algorithm in five frames: scatter, score, select, breed, improve. Nobody told the population where the peak was — selection pressure discovered it. Hold this picture; the rest of the talk is just adding engineering detail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optimization: many candidate solutions, rugged landscape. Hill-climbing gets stuck on local optima; we need a search strategy that explores broadly —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lineage: Darwin's natural selection → Holland formalizes genetic algorithms in 1975 → today they power optimization across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famous NASA ST5 evolved antenna — a design no human would draw, discovered by evolutionary search. Great proof that GAs find creative solutions in huge search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biology refresher: DNA encodes instructions; genes are single units; chromosomes package genes; the nucleus holds it all. These map directly to GA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 of evolution: a population competes, the fittest reproduce, offspring mix traits, mutation adds novelty — and the cycle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shows up in every industry. Any problem with many candidate answers and a scoring function is fair game for evolutionary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Rosetta stone slide: gene = information unit, genome = solution structure, population = candidate solutions, and so on. Keep referring back to this mapping. Callback: these are the same five chips from the opening definition slide — as promised.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diagram of the talk. Walk each stage slowly: create, evaluate, select, cross over, mutate, replace — and loop until the population converges on a strong solution. Callback: this is the little ring from the opening slide, now full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pressure focuses the search where fitness is high — that is why the green curve races ahead of random sampling and plateaus at a much better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Fitness is the missing fifth chip's own slide: one number per candidate, and it's the only signal evolution receives. Walk the pipeline right: routes go in, scores come out, and selection acts purely on those scores. The C# shows the pattern — invert cost, turn hard constraints into heavy penalties. Foreshadow Limitations: a flawed fitness function evolves the wrong thing beautifully.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the population by fitness. The strongest candidates are chosen as parents. Selection is the engine of improvement — without it, evolution is just random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Roulette selection: each candidate's share of the wheel equals its share of total fitness. High fitness wins more spins, but low-fitness candidates keep a chance — that diversity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Single-point crossover: pick a cut point, take the head from parent A and the tail from parent B. Good partial solutions — building blocks — combine into better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Mutation flips a single gene at random. Rate matters: too little and the search stagnates, too much and it degenerates into random search. Highlight the orange gene.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shows up in every industry. Any problem with many candidate answers and a scoring function is fair game for evolutionary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shows up in every industry. Any problem with many candidate answers and a scoring function is fair game for evolutionary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fitness design is the hard intellectual work, evaluation cost dominates runtime, and premature convergence is the classic failure mode. Every knob is a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shows up in every industry. Any problem with many candidate answers and a scoring function is fair game for evolutionary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case study: real-world cargo routing with competing goals — cost, time, efficiency — under hard constraints. The green path is one evolved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theory becomes software: airports are genes, a route is a chromosome, the route score is the fitness function. Once the mapping clicks, the code writes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GA fitness curve: steep early gains as selection exploits easy wins, then a long refinement tail. Around generation 30 the routes are already near-optimal.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 concept becomes a component with a single responsibility — easy to unit test and easy to swap strategies. Walk the data flow from network graph to best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shows up in every industry. Any problem with many candidate answers and a scoring function is fair game for evolutionary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running app. Narrate the four things on screen: the population forming, fitness scores climbing, selection pruning weak routes, and occasional mutations shaking things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reconnect every demo moment to the lifecycle diagram. Emphasize that we specified the WHAT (fitness), and evolution found the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Goldberg for theory, Mitchell for intuition, Haupt for practice. GeneticSharp if you want a library; AirFreightRouter if you want to read a from-scratch implementation. Swap in real QR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mantra: evolve better solutions. Point to the QR for slides and code.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hero_dna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325880"/>
            <a:ext cx="6035040" cy="36210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 ALGORITHMS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640080" y="3291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Another AI Path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Evolutionary Optimization Solutions in C# and .NET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5120640"/>
            <a:ext cx="201168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52852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Chris Woodruff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· Architect · Speaker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5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1D3E9-7F16-459B-F3C9-683943A2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12" y="643467"/>
            <a:ext cx="497217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9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Chris Woodruff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quick introduction before we start evolving software.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assets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08" y="194108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7099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Decades of building software across platforms and industries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2898648"/>
            <a:ext cx="658368" cy="658368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assets/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08" y="3056656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8254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systems, services, and data platforms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" y="4014216"/>
            <a:ext cx="658368" cy="65836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home/claude/deck/assets/icons/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08" y="4172224"/>
            <a:ext cx="342351" cy="3423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72768" y="394106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Speaker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Sharing ideas at conferences and user groups worldwide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5129784"/>
            <a:ext cx="658368" cy="658368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deck/assets/icons/br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08" y="5287792"/>
            <a:ext cx="342351" cy="3423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72768" y="505663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and .NET Enthusiast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Exploring the many paths of AI with C# and .NET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635240" y="1645920"/>
            <a:ext cx="3840480" cy="4526280"/>
          </a:xfrm>
          <a:prstGeom prst="roundRect">
            <a:avLst>
              <a:gd name="adj" fmla="val 3810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8732520" y="1965960"/>
            <a:ext cx="1645920" cy="1645920"/>
          </a:xfrm>
          <a:prstGeom prst="ellipse">
            <a:avLst/>
          </a:prstGeom>
          <a:solidFill>
            <a:srgbClr val="2E6DA4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/home/claude/deck/assets/icons/glob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251960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9536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woodruff.dev</a:t>
            </a:r>
            <a:endParaRPr lang="en-US" sz="1300" dirty="0"/>
          </a:p>
        </p:txBody>
      </p:sp>
      <p:pic>
        <p:nvPicPr>
          <p:cNvPr id="22" name="Image 6" descr="/home/claude/deck/assets/icons/githu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4818888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595360" y="4773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github.com/cwoodruff</a:t>
            </a:r>
            <a:endParaRPr lang="en-US" sz="1300" dirty="0"/>
          </a:p>
        </p:txBody>
      </p:sp>
      <p:pic>
        <p:nvPicPr>
          <p:cNvPr id="24" name="Image 7" descr="/home/claude/deck/assets/icons/linked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5385816"/>
            <a:ext cx="310896" cy="31089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595360" y="53400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/in/chriswoodruff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5ACDC4-8D95-AB11-AC51-32BB2D8CB1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3960" y="2048256"/>
            <a:ext cx="1554480" cy="155448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Genetic Algorithm?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genetic algorithm is a search technique that finds good solutions to hard problems </a:t>
            </a:r>
            <a:r>
              <a:rPr lang="en-US" sz="23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evolving them</a:t>
            </a: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breeds a population of candidate answers, keeps the best, combines them, and repeats.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neural network. No training data. Just a fitness score and the logic of natural selection.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38528" y="507492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38528" y="5074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507492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3E8E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36976" y="5074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35424" y="507492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35424" y="5074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33872" y="507492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3872" y="507492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ingredients — every one of them gets its own slide in this talk.</a:t>
            </a:r>
            <a:endParaRPr lang="en-US" sz="1150" dirty="0"/>
          </a:p>
        </p:txBody>
      </p:sp>
      <p:pic>
        <p:nvPicPr>
          <p:cNvPr id="16" name="Image 0" descr="/home/claude/deck/assets/cycle_mini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417320"/>
            <a:ext cx="4297680" cy="4297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52360" y="5806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You'll see this loop all talk long.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Map of AI — Another Path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training data, no gradients, no neural network — a different way to be intelligent: search.</a:t>
            </a:r>
            <a:endParaRPr lang="en-US" sz="1500" dirty="0"/>
          </a:p>
        </p:txBody>
      </p:sp>
      <p:pic>
        <p:nvPicPr>
          <p:cNvPr id="4" name="Image 0" descr="/home/claude/deck/assets/ai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1645920"/>
            <a:ext cx="871423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You Find the Best Answer?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search strategies, one landscape. Height is solution quality — the goal is the highest peak.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743200" cy="4434840"/>
          </a:xfrm>
          <a:prstGeom prst="roundRect">
            <a:avLst>
              <a:gd name="adj" fmla="val 4667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1650" dirty="0"/>
          </a:p>
        </p:txBody>
      </p:sp>
      <p:pic>
        <p:nvPicPr>
          <p:cNvPr id="6" name="Image 0" descr="/home/claude/deck/assets/srch_br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286000"/>
            <a:ext cx="23774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" y="4937760"/>
            <a:ext cx="2432304" cy="7863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937760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— but explodes at n!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627632"/>
            <a:ext cx="2743200" cy="4434840"/>
          </a:xfrm>
          <a:prstGeom prst="roundRect">
            <a:avLst>
              <a:gd name="adj" fmla="val 4667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56432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Hill Climbing</a:t>
            </a:r>
            <a:endParaRPr lang="en-US" sz="1650" dirty="0"/>
          </a:p>
        </p:txBody>
      </p:sp>
      <p:pic>
        <p:nvPicPr>
          <p:cNvPr id="11" name="Image 1" descr="/home/claude/deck/assets/srch_h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2286000"/>
            <a:ext cx="2377440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11880" y="4937760"/>
            <a:ext cx="2432304" cy="786384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49040" y="4937760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— but trapped on local optima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45936" y="1627632"/>
            <a:ext cx="2743200" cy="4434840"/>
          </a:xfrm>
          <a:prstGeom prst="roundRect">
            <a:avLst>
              <a:gd name="adj" fmla="val 4667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345936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Search</a:t>
            </a:r>
            <a:endParaRPr lang="en-US" sz="1650" dirty="0"/>
          </a:p>
        </p:txBody>
      </p:sp>
      <p:pic>
        <p:nvPicPr>
          <p:cNvPr id="16" name="Image 2" descr="/home/claude/deck/assets/srch_rand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286000"/>
            <a:ext cx="2377440" cy="23774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01384" y="4937760"/>
            <a:ext cx="2432304" cy="786384"/>
          </a:xfrm>
          <a:prstGeom prst="roundRect">
            <a:avLst>
              <a:gd name="adj" fmla="val 50000"/>
            </a:avLst>
          </a:prstGeom>
          <a:solidFill>
            <a:srgbClr val="7E97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638544" y="4937760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Escapes traps — but wastes effort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35440" y="1627632"/>
            <a:ext cx="2743200" cy="4434840"/>
          </a:xfrm>
          <a:prstGeom prst="roundRect">
            <a:avLst>
              <a:gd name="adj" fmla="val 4667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923544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 Algorithm</a:t>
            </a:r>
            <a:endParaRPr lang="en-US" sz="1650" dirty="0"/>
          </a:p>
        </p:txBody>
      </p:sp>
      <p:pic>
        <p:nvPicPr>
          <p:cNvPr id="21" name="Image 3" descr="/home/claude/deck/assets/srch_g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2286000"/>
            <a:ext cx="2377440" cy="23774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390888" y="4937760"/>
            <a:ext cx="2432304" cy="786384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528048" y="4937760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population learns where to look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66928" y="62636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 → blue → green dots = generations 0, 1, 2 of the genetic algorithm converging on the global peak 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in Sixty Seconds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generation, one glance — rings mark the high-fitness zone; greener dots score higher.</a:t>
            </a:r>
            <a:endParaRPr lang="en-US" sz="1500" dirty="0"/>
          </a:p>
        </p:txBody>
      </p:sp>
      <p:pic>
        <p:nvPicPr>
          <p:cNvPr id="4" name="Image 0" descr="/home/claude/deck/assets/evo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03120"/>
            <a:ext cx="1106424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343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Random population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0 — candidates scattered blindly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816352" y="4343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Score fitness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candidate gets a number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65776" y="4343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Select parents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Orange rings — the fittest are chosen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4343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Breed offspring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mixes genes; one mutant appears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564624" y="4343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Improved population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1 — clustered near the peak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011680" y="5623560"/>
            <a:ext cx="8183880" cy="868680"/>
          </a:xfrm>
          <a:prstGeom prst="roundRect">
            <a:avLst>
              <a:gd name="adj" fmla="val 14737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86000" y="56235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the whole trick:  </a:t>
            </a:r>
            <a:r>
              <a:rPr lang="en-US" sz="1350" dirty="0">
                <a:solidFill>
                  <a:srgbClr val="3C5C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told the dots where the peak was. Selection pressure found 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 Genetic Algorithms?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know what a genetic algorithm is.</a:t>
            </a:r>
            <a:r>
              <a:rPr lang="en-US" sz="16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Here is why you would want one: real optimization problems have enormous search spaces — far too many possible answers to check.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514600"/>
            <a:ext cx="448056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615184"/>
            <a:ext cx="512064" cy="512064"/>
          </a:xfrm>
          <a:prstGeom prst="ellipse">
            <a:avLst/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2738628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5146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3383280"/>
            <a:ext cx="448056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" y="3483864"/>
            <a:ext cx="512064" cy="512064"/>
          </a:xfrm>
          <a:prstGeom prst="ellipse">
            <a:avLst/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assets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607308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832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66928" y="4251960"/>
            <a:ext cx="448056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3232" y="4352544"/>
            <a:ext cx="512064" cy="512064"/>
          </a:xfrm>
          <a:prstGeom prst="ellipse">
            <a:avLst/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/assets/icons/box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44759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2519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66928" y="5120640"/>
            <a:ext cx="448056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13232" y="5221224"/>
            <a:ext cx="512064" cy="512064"/>
          </a:xfrm>
          <a:prstGeom prst="ellipse">
            <a:avLst/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ck/assets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5344668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206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719572" y="1322172"/>
            <a:ext cx="5939028" cy="4987187"/>
          </a:xfrm>
          <a:prstGeom prst="roundRect">
            <a:avLst>
              <a:gd name="adj" fmla="val 2883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deck/assets/landsca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3798" y="1487190"/>
            <a:ext cx="5616202" cy="397177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943600" y="5687568"/>
            <a:ext cx="201168" cy="20116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236208" y="5577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optimum — the best solution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9098280" y="5687568"/>
            <a:ext cx="201168" cy="201168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9390888" y="5577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optima — traps for simple search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1562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Genetic Algorithms Come From?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Darwin's theory of evolution inspired genetic algorithms through natural selection and adaptation.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13248" y="1691640"/>
            <a:ext cx="1371600" cy="137160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13248" y="1691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355848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Charles Darwin · 1809–1882 · On the Origin of Species, 1859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25880" y="4636008"/>
            <a:ext cx="9537192" cy="0"/>
          </a:xfrm>
          <a:prstGeom prst="line">
            <a:avLst/>
          </a:prstGeom>
          <a:noFill/>
          <a:ln w="381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4343400"/>
            <a:ext cx="603504" cy="603504"/>
          </a:xfrm>
          <a:prstGeom prst="ellipse">
            <a:avLst/>
          </a:prstGeom>
          <a:solidFill>
            <a:srgbClr val="2E6DA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" y="51206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</a:t>
            </a:r>
            <a:endParaRPr lang="en-US" sz="14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Species adapt over generations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08426" y="4343400"/>
            <a:ext cx="603504" cy="603504"/>
          </a:xfrm>
          <a:prstGeom prst="ellipse">
            <a:avLst/>
          </a:prstGeom>
          <a:solidFill>
            <a:srgbClr val="1F4E79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8426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86050" y="51206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Darwin</a:t>
            </a:r>
            <a:endParaRPr lang="en-US" sz="14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selection, 1859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792724" y="4343400"/>
            <a:ext cx="603504" cy="603504"/>
          </a:xfrm>
          <a:prstGeom prst="ellipse">
            <a:avLst/>
          </a:prstGeom>
          <a:solidFill>
            <a:srgbClr val="66BB6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92724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0348" y="51206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Selection</a:t>
            </a:r>
            <a:endParaRPr lang="en-US" sz="14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fittest survive and reproduce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177022" y="4343400"/>
            <a:ext cx="603504" cy="603504"/>
          </a:xfrm>
          <a:prstGeom prst="ellipse">
            <a:avLst/>
          </a:prstGeom>
          <a:solidFill>
            <a:srgbClr val="FF98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77022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4646" y="51206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 Algorithms</a:t>
            </a:r>
            <a:endParaRPr lang="en-US" sz="14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Holland, 1975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0561320" y="4343400"/>
            <a:ext cx="603504" cy="603504"/>
          </a:xfrm>
          <a:prstGeom prst="ellipse">
            <a:avLst/>
          </a:prstGeom>
          <a:solidFill>
            <a:srgbClr val="4FC3F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61320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38944" y="5120640"/>
            <a:ext cx="2048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AI</a:t>
            </a:r>
            <a:endParaRPr lang="en-US" sz="14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engines today</a:t>
            </a:r>
            <a:endParaRPr lang="en-US" sz="1450" dirty="0"/>
          </a:p>
        </p:txBody>
      </p:sp>
      <p:pic>
        <p:nvPicPr>
          <p:cNvPr id="24" name="Picture 2" descr="See the source image">
            <a:extLst>
              <a:ext uri="{FF2B5EF4-FFF2-40B4-BE49-F238E27FC236}">
                <a16:creationId xmlns:a16="http://schemas.microsoft.com/office/drawing/2014/main" id="{81F1A271-BC00-D824-25FD-D2C6ED5D46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340" y="1726190"/>
            <a:ext cx="976272" cy="13024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35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Solved by Genetic Algorithms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· NASA ST5 MISSION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antenna designed by evolution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needed an antenna with a radiation pattern no human engineer had drawn before. A genetic algorithm evolved thousands of candidate shapes — and the strange, bent-wire winner flew to space in 2006.</a:t>
            </a:r>
            <a:endParaRPr lang="en-US" sz="1450" dirty="0"/>
          </a:p>
        </p:txBody>
      </p:sp>
      <p:pic>
        <p:nvPicPr>
          <p:cNvPr id="7" name="Image 0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0325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90448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search spaces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Explores shapes humans would never sketch</a:t>
            </a:r>
            <a:endParaRPr lang="en-US" sz="1500" dirty="0"/>
          </a:p>
        </p:txBody>
      </p:sp>
      <p:pic>
        <p:nvPicPr>
          <p:cNvPr id="9" name="Image 1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8737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474573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solutions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assumptions about what a design should look like</a:t>
            </a:r>
            <a:endParaRPr lang="en-US" sz="1500" dirty="0"/>
          </a:p>
        </p:txBody>
      </p:sp>
      <p:pic>
        <p:nvPicPr>
          <p:cNvPr id="11" name="Image 2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715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558698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through evolution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generation gets measurably better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720840" y="1234440"/>
            <a:ext cx="4892040" cy="5212080"/>
          </a:xfrm>
          <a:prstGeom prst="roundRect">
            <a:avLst>
              <a:gd name="adj" fmla="val 2991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/home/claude/deck/assets/anten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463040"/>
            <a:ext cx="1975104" cy="3611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967728" y="513892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967728" y="5138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485632" y="513892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8485632" y="5138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10003536" y="513892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0003536" y="5138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4944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ST5 evolved antenna (stylized)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biology that inspired the algorithm — four terms to know.</a:t>
            </a:r>
            <a:endParaRPr lang="en-US" sz="1500" dirty="0"/>
          </a:p>
        </p:txBody>
      </p:sp>
      <p:pic>
        <p:nvPicPr>
          <p:cNvPr id="4" name="Image 0" descr="/home/claude/deck/assets/dna_vert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352044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783080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74920" y="2075688"/>
            <a:ext cx="365760" cy="36576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23560" y="1783080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DNA  </a:t>
            </a: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molecule that encodes the instructions for building an organism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846320" y="2953512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74920" y="324612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23560" y="2953512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66BB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  </a:t>
            </a: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unit of heredity — one instruction in the code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846320" y="4123944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74920" y="4416552"/>
            <a:ext cx="365760" cy="365760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23560" y="4123944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Chromosome  </a:t>
            </a: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long strand of many genes packaged together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846320" y="5294376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74920" y="5586984"/>
            <a:ext cx="365760" cy="365760"/>
          </a:xfrm>
          <a:prstGeom prst="ellipse">
            <a:avLst/>
          </a:prstGeom>
          <a:solidFill>
            <a:srgbClr val="C878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23560" y="5294376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C87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Nucleus  </a:t>
            </a:r>
            <a:r>
              <a:rPr lang="en-US" sz="13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cell's control center, where chromosomes live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in 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generation at a time, populations improve through four repeating steps.</a:t>
            </a:r>
            <a:endParaRPr lang="en-US" sz="1500" dirty="0"/>
          </a:p>
        </p:txBody>
      </p:sp>
      <p:pic>
        <p:nvPicPr>
          <p:cNvPr id="4" name="Image 0" descr="/home/claude/deck/assets/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54480"/>
            <a:ext cx="507492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92024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53312" y="1920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 </a:t>
            </a:r>
            <a:r>
              <a:rPr lang="en-US" sz="12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group of individuals competing to survive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3035808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4672" y="3310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53312" y="30358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 </a:t>
            </a:r>
            <a:r>
              <a:rPr lang="en-US" sz="12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fittest are chosen to become parents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4151376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" y="44256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53312" y="415137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 </a:t>
            </a:r>
            <a:r>
              <a:rPr lang="en-US" sz="12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combine traits to create offspring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" y="5266944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4672" y="55412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53312" y="526694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 </a:t>
            </a:r>
            <a:r>
              <a:rPr lang="en-US" sz="12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changes introduce fresh variation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7082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Selection in Three Beats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classic beetle example — and what each beat becomes once you write it in code.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</a:p>
        </p:txBody>
      </p:sp>
      <p:sp>
        <p:nvSpPr>
          <p:cNvPr id="7" name="Text 4"/>
          <p:cNvSpPr/>
          <p:nvPr/>
        </p:nvSpPr>
        <p:spPr>
          <a:xfrm>
            <a:off x="1664208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Variation</a:t>
            </a:r>
          </a:p>
        </p:txBody>
      </p:sp>
      <p:sp>
        <p:nvSpPr>
          <p:cNvPr id="8" name="Text 5"/>
          <p:cNvSpPr/>
          <p:nvPr/>
        </p:nvSpPr>
        <p:spPr>
          <a:xfrm>
            <a:off x="859536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population of beetles, some green and some orange. No two individuals are identical.</a:t>
            </a:r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</a:p>
        </p:txBody>
      </p:sp>
      <p:sp>
        <p:nvSpPr>
          <p:cNvPr id="12" name="Text 8"/>
          <p:cNvSpPr/>
          <p:nvPr/>
        </p:nvSpPr>
        <p:spPr>
          <a:xfrm>
            <a:off x="5486400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</a:p>
        </p:txBody>
      </p:sp>
      <p:sp>
        <p:nvSpPr>
          <p:cNvPr id="13" name="Text 9"/>
          <p:cNvSpPr/>
          <p:nvPr/>
        </p:nvSpPr>
        <p:spPr>
          <a:xfrm>
            <a:off x="4681728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Birds eat what they can see. Orange beetles on green leaves get picked off first.</a:t>
            </a:r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</a:p>
        </p:txBody>
      </p:sp>
      <p:sp>
        <p:nvSpPr>
          <p:cNvPr id="17" name="Text 12"/>
          <p:cNvSpPr/>
          <p:nvPr/>
        </p:nvSpPr>
        <p:spPr>
          <a:xfrm>
            <a:off x="9308592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Heredity</a:t>
            </a:r>
          </a:p>
        </p:txBody>
      </p:sp>
      <p:sp>
        <p:nvSpPr>
          <p:cNvPr id="18" name="Text 13"/>
          <p:cNvSpPr/>
          <p:nvPr/>
        </p:nvSpPr>
        <p:spPr>
          <a:xfrm>
            <a:off x="850392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Survivors breed, colour passes to the next generation, and green spreads.</a:t>
            </a:r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</a:p>
        </p:txBody>
      </p:sp>
      <p:sp>
        <p:nvSpPr>
          <p:cNvPr id="22" name="Text 16"/>
          <p:cNvSpPr/>
          <p:nvPr/>
        </p:nvSpPr>
        <p:spPr>
          <a:xfrm>
            <a:off x="1664208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Population</a:t>
            </a:r>
          </a:p>
        </p:txBody>
      </p:sp>
      <p:sp>
        <p:nvSpPr>
          <p:cNvPr id="23" name="Text 17"/>
          <p:cNvSpPr/>
          <p:nvPr/>
        </p:nvSpPr>
        <p:spPr>
          <a:xfrm>
            <a:off x="859536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generation zero with random candidate solutions scattered across the search space.</a:t>
            </a:r>
          </a:p>
        </p:txBody>
      </p:sp>
      <p:sp>
        <p:nvSpPr>
          <p:cNvPr id="24" name="Shape 18"/>
          <p:cNvSpPr/>
          <p:nvPr/>
        </p:nvSpPr>
        <p:spPr>
          <a:xfrm>
            <a:off x="4389120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343400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</a:p>
        </p:txBody>
      </p:sp>
      <p:sp>
        <p:nvSpPr>
          <p:cNvPr id="27" name="Text 20"/>
          <p:cNvSpPr/>
          <p:nvPr/>
        </p:nvSpPr>
        <p:spPr>
          <a:xfrm>
            <a:off x="5486400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Function</a:t>
            </a:r>
          </a:p>
        </p:txBody>
      </p:sp>
      <p:sp>
        <p:nvSpPr>
          <p:cNvPr id="28" name="Text 21"/>
          <p:cNvSpPr/>
          <p:nvPr/>
        </p:nvSpPr>
        <p:spPr>
          <a:xfrm>
            <a:off x="4681728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every candidate. Weak scorers are far less likely to be chosen as parents.</a:t>
            </a:r>
          </a:p>
        </p:txBody>
      </p:sp>
      <p:sp>
        <p:nvSpPr>
          <p:cNvPr id="29" name="Shape 22"/>
          <p:cNvSpPr/>
          <p:nvPr/>
        </p:nvSpPr>
        <p:spPr>
          <a:xfrm>
            <a:off x="8211312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67344" y="4343400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</a:p>
        </p:txBody>
      </p:sp>
      <p:sp>
        <p:nvSpPr>
          <p:cNvPr id="32" name="Text 24"/>
          <p:cNvSpPr/>
          <p:nvPr/>
        </p:nvSpPr>
        <p:spPr>
          <a:xfrm>
            <a:off x="9308592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&amp; Mutation</a:t>
            </a:r>
          </a:p>
        </p:txBody>
      </p:sp>
      <p:sp>
        <p:nvSpPr>
          <p:cNvPr id="33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Offspring inherit genes from selected parents, with the occasional random tweak.</a:t>
            </a:r>
          </a:p>
        </p:txBody>
      </p:sp>
      <p:sp>
        <p:nvSpPr>
          <p:cNvPr id="61" name="Text 61"/>
          <p:cNvSpPr/>
          <p:nvPr/>
        </p:nvSpPr>
        <p:spPr>
          <a:xfrm>
            <a:off x="571500" y="1600200"/>
            <a:ext cx="300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spc="200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NATURE</a:t>
            </a:r>
          </a:p>
        </p:txBody>
      </p:sp>
      <p:sp>
        <p:nvSpPr>
          <p:cNvPr id="62" name="Text 62"/>
          <p:cNvSpPr/>
          <p:nvPr/>
        </p:nvSpPr>
        <p:spPr>
          <a:xfrm>
            <a:off x="571500" y="3860800"/>
            <a:ext cx="300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CODE</a:t>
            </a:r>
          </a:p>
        </p:txBody>
      </p:sp>
    </p:spTree>
    <p:extLst>
      <p:ext uri="{BB962C8B-B14F-4D97-AF65-F5344CB8AC3E}">
        <p14:creationId xmlns:p14="http://schemas.microsoft.com/office/powerpoint/2010/main" val="156420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 Algorithm Terminology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biological idea has a direct software counterpart.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480560" cy="50292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BIOLOGY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93992" y="1600200"/>
            <a:ext cx="4480560" cy="50292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93992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14416" y="24688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93992" y="2331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93992" y="2331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Unit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Genome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14416" y="31546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93992" y="30175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3017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Structure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14416" y="38404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93992" y="37033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3992" y="37033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Solutions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14400" y="43891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14416" y="45262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93992" y="43891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93992" y="43891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Selection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14400" y="50749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14416" y="52120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93992" y="50749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93992" y="5074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Recombination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14400" y="5760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760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614416" y="58978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93992" y="5760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93992" y="5760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Variation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95061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Genetic Algorithm Lifecycle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29888" y="1325880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2E6DA4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29888" y="13258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Population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81848" y="13258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candidate solutions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9544" y="1947672"/>
            <a:ext cx="292608" cy="187452"/>
          </a:xfrm>
          <a:prstGeom prst="downArrow">
            <a:avLst/>
          </a:prstGeom>
          <a:solidFill>
            <a:srgbClr val="3A5C82"/>
          </a:solidFill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29888" y="2153412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4FC3F7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29888" y="21534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Fitness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848" y="21534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every individual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9544" y="2775204"/>
            <a:ext cx="292608" cy="187452"/>
          </a:xfrm>
          <a:prstGeom prst="downArrow">
            <a:avLst/>
          </a:prstGeom>
          <a:solidFill>
            <a:srgbClr val="3A5C82"/>
          </a:solidFill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29888" y="2980944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3E8ED0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29888" y="29809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81848" y="298094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parents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9544" y="3602736"/>
            <a:ext cx="292608" cy="187452"/>
          </a:xfrm>
          <a:prstGeom prst="downArrow">
            <a:avLst/>
          </a:prstGeom>
          <a:solidFill>
            <a:srgbClr val="3A5C82"/>
          </a:solidFill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29888" y="3808476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66BB6A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29888" y="38084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1848" y="380847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parent genes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9544" y="4430268"/>
            <a:ext cx="292608" cy="187452"/>
          </a:xfrm>
          <a:prstGeom prst="downArrow">
            <a:avLst/>
          </a:prstGeom>
          <a:solidFill>
            <a:srgbClr val="3A5C82"/>
          </a:solidFill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29888" y="4636008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FF9800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29888" y="46360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81848" y="46360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random variation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9544" y="5257800"/>
            <a:ext cx="292608" cy="187452"/>
          </a:xfrm>
          <a:prstGeom prst="downArrow">
            <a:avLst/>
          </a:prstGeom>
          <a:solidFill>
            <a:srgbClr val="3A5C82"/>
          </a:solidFill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29888" y="5463540"/>
            <a:ext cx="3931920" cy="603504"/>
          </a:xfrm>
          <a:prstGeom prst="roundRect">
            <a:avLst>
              <a:gd name="adj" fmla="val 15152"/>
            </a:avLst>
          </a:prstGeom>
          <a:solidFill>
            <a:srgbClr val="8C78C8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29888" y="54635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Generation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81848" y="54635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the population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15488" y="2455164"/>
            <a:ext cx="0" cy="3310128"/>
          </a:xfrm>
          <a:prstGeom prst="line">
            <a:avLst/>
          </a:prstGeom>
          <a:noFill/>
          <a:ln w="3175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15488" y="5765292"/>
            <a:ext cx="86868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15488" y="2455164"/>
            <a:ext cx="86868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34160" y="38359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1280" y="42016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FA9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until converged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Quickly Get To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Evolutionary search converges on strong solutions far faster than random search.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78638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2377440"/>
            <a:ext cx="2743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0" y="26334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528048" y="25237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convergence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0" y="29809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climbs steeply in early generations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915400" y="3931920"/>
            <a:ext cx="2743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44000" y="41879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528048" y="40782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results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0" y="45354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far above random exploration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0589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Fitness Function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Evaluate: one number per candidate — how evolution tells better from worse.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fitness function takes a candidate solution and returns a single score. </a:t>
            </a:r>
            <a:r>
              <a:rPr lang="en-US" sz="155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the only signal evolution ever gets</a:t>
            </a:r>
            <a:r>
              <a:rPr lang="en-US" sz="15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selection, crossover, and mutation never look at the problem itself.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31546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0D1B30"/>
          </a:solidFill>
          <a:ln w="19050">
            <a:solidFill>
              <a:srgbClr val="2E4A6B"/>
            </a:solidFill>
            <a:prstDash val="solid"/>
          </a:ln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33375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8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AirFreightRouter — score one route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Fitness(Route route) =&gt;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1.0 / (route.FuelCost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route.HandlingFees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LatePenalty(route)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CurfewViolations(route) * 1_000);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577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cost → higher fitness. Hard constraints become heavy penalties.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5029200" cy="4297680"/>
          </a:xfrm>
          <a:prstGeom prst="roundRect">
            <a:avLst>
              <a:gd name="adj" fmla="val 2979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31736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33488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5240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66BB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36992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76488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04504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E6DA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06256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08008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09760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3E8ED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49256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77272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4458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9024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5A6B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780776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4458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082528" y="217627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5A6B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951976" y="2606040"/>
            <a:ext cx="292608" cy="384048"/>
          </a:xfrm>
          <a:prstGeom prst="downArrow">
            <a:avLst/>
          </a:prstGeom>
          <a:solidFill>
            <a:srgbClr val="3A5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3090672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0" y="30906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Function  ƒ(x)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51976" y="3968496"/>
            <a:ext cx="292608" cy="384048"/>
          </a:xfrm>
          <a:prstGeom prst="downArrow">
            <a:avLst/>
          </a:prstGeom>
          <a:solidFill>
            <a:srgbClr val="3A5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95160" y="45262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D1B30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95160" y="45262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95160" y="4526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67928" y="45262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D1B30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67928" y="452628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67928" y="4526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140696" y="45262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D1B30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140696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458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140696" y="4526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5212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generation, every candidate, one score — evaluated thousands of times per run.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61722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2A1F0A"/>
          </a:solidFill>
          <a:ln w="1905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8680" y="6172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 IS the goal:  </a:t>
            </a:r>
            <a:r>
              <a:rPr lang="en-US" sz="1300" dirty="0">
                <a:solidFill>
                  <a:srgbClr val="F5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optimizes exactly what you measure — nothing else. Design it with care.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Selecting candidate solutions for reproduction — the fittest earn the right to become parents.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920240"/>
            <a:ext cx="5131613" cy="54864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06040" y="1920240"/>
            <a:ext cx="49487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92</a:t>
            </a:r>
            <a:endParaRPr lang="en-US" sz="1250" dirty="0"/>
          </a:p>
        </p:txBody>
      </p:sp>
      <p:pic>
        <p:nvPicPr>
          <p:cNvPr id="7" name="Image 0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085" y="2039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163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68880" y="2816352"/>
            <a:ext cx="4741164" cy="54864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06040" y="2816352"/>
            <a:ext cx="4558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85</a:t>
            </a:r>
            <a:endParaRPr lang="en-US" sz="1250" dirty="0"/>
          </a:p>
        </p:txBody>
      </p:sp>
      <p:pic>
        <p:nvPicPr>
          <p:cNvPr id="11" name="Image 1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636" y="29352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71246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C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468880" y="3712464"/>
            <a:ext cx="3960266" cy="548640"/>
          </a:xfrm>
          <a:prstGeom prst="roundRect">
            <a:avLst>
              <a:gd name="adj" fmla="val 15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606040" y="3712464"/>
            <a:ext cx="3777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71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460857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468880" y="4608576"/>
            <a:ext cx="3012034" cy="548640"/>
          </a:xfrm>
          <a:prstGeom prst="roundRect">
            <a:avLst>
              <a:gd name="adj" fmla="val 15000"/>
            </a:avLst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606040" y="4608576"/>
            <a:ext cx="28291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54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5504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468880" y="5504688"/>
            <a:ext cx="1840687" cy="548640"/>
          </a:xfrm>
          <a:prstGeom prst="roundRect">
            <a:avLst>
              <a:gd name="adj" fmla="val 15000"/>
            </a:avLst>
          </a:prstGeom>
          <a:solidFill>
            <a:srgbClr val="4458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606040" y="5504688"/>
            <a:ext cx="1657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33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869680" y="2148840"/>
            <a:ext cx="2834640" cy="3291840"/>
          </a:xfrm>
          <a:prstGeom prst="roundRect">
            <a:avLst>
              <a:gd name="adj" fmla="val 5161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00684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performers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forward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275320" y="3666744"/>
            <a:ext cx="502920" cy="256032"/>
          </a:xfrm>
          <a:prstGeom prst="rightArrow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052560" y="33832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become the parents of the next generation; weak candidates fade out of the gene pool.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Roulette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Fitness-proportionate selection — spin the wheel, and better solutions own bigger slices.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0F20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assets/rou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828800"/>
            <a:ext cx="4572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965960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37960" y="2350008"/>
            <a:ext cx="402336" cy="402336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50608" y="2093976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candidate gets a slice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 size is proportional to fitness score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3383280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7960" y="3767328"/>
            <a:ext cx="402336" cy="402336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50608" y="3511296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wheel is spun for each parent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is random — but weighted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4800600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37960" y="5184648"/>
            <a:ext cx="402336" cy="402336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50608" y="4928616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candidates win more often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Yet weak ones still get a small chance, preserving diversity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4812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parents combine their genes to produce a child that inherits from both.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1691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1920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3A0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36592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41264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66BB6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41264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5936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81C78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45936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50608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CA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0608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6916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388E3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0" y="16916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97112" y="1636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26060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31920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0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41264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3E8E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41264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45936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50608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50608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26060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0" y="26060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0216" y="1554480"/>
            <a:ext cx="0" cy="1783080"/>
          </a:xfrm>
          <a:prstGeom prst="line">
            <a:avLst/>
          </a:prstGeom>
          <a:noFill/>
          <a:ln w="38100">
            <a:solidFill>
              <a:srgbClr val="FF98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94376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point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53912" y="3794760"/>
            <a:ext cx="292608" cy="457200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0" y="44348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31920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31920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36592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3A04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36592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41264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66BB6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41264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45936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45936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50608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50608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443484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55280" y="443484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947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genes 1–3 from Parent 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153912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genes 4–6 from Parent B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011680" y="5897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DNA recombination, crossover lets good building blocks from two strong parents meet in one offspring.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8498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random change keeps the population exploring new territory.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Mutation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27048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27048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76856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76856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26664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6664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76472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3E8E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76472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26280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58968" y="3026664"/>
            <a:ext cx="1005840" cy="256032"/>
          </a:xfrm>
          <a:prstGeom prst="rightArrow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21945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Mutation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66560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2E6D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16368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16368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66176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66176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15984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FF9800"/>
          </a:solidFill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15984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G′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65792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3E8ED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65792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515600" y="2834640"/>
            <a:ext cx="658368" cy="640080"/>
          </a:xfrm>
          <a:prstGeom prst="roundRect">
            <a:avLst>
              <a:gd name="adj" fmla="val 12857"/>
            </a:avLst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0" y="283464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345168" y="3547872"/>
            <a:ext cx="0" cy="457200"/>
          </a:xfrm>
          <a:prstGeom prst="line">
            <a:avLst/>
          </a:prstGeom>
          <a:noFill/>
          <a:ln w="3175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0" y="4041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gene randomly altered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011680" y="5029200"/>
            <a:ext cx="8183880" cy="1051560"/>
          </a:xfrm>
          <a:prstGeom prst="roundRect">
            <a:avLst>
              <a:gd name="adj" fmla="val 12174"/>
            </a:avLst>
          </a:prstGeom>
          <a:solidFill>
            <a:srgbClr val="FFF4E2"/>
          </a:solidFill>
          <a:ln w="12700">
            <a:solidFill>
              <a:srgbClr val="F5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0" y="50292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2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mutate?  </a:t>
            </a:r>
            <a:r>
              <a:rPr lang="en-US" sz="1350" dirty="0">
                <a:solidFill>
                  <a:srgbClr val="7A5A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mutation, the population can stagnate on one family of solutions. A low mutation rate injects just enough novelty to escape local optima.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64626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Warm-Up: A Genetic Algorithm in 60 Seconds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problem small enough to check by hand, so you can watch the machinery work before we scale it up.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</a:p>
        </p:txBody>
      </p:sp>
      <p:sp>
        <p:nvSpPr>
          <p:cNvPr id="7" name="Text 4"/>
          <p:cNvSpPr/>
          <p:nvPr/>
        </p:nvSpPr>
        <p:spPr>
          <a:xfrm>
            <a:off x="1664208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</a:p>
        </p:txBody>
      </p:sp>
      <p:sp>
        <p:nvSpPr>
          <p:cNvPr id="8" name="Text 5"/>
          <p:cNvSpPr/>
          <p:nvPr/>
        </p:nvSpPr>
        <p:spPr>
          <a:xfrm>
            <a:off x="859536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Maximise f(x) = 120x - x² over 0 ≤ x ≤ 127. Calculus gives x = 60, so we already know the right answer.</a:t>
            </a:r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</a:p>
        </p:txBody>
      </p:sp>
      <p:sp>
        <p:nvSpPr>
          <p:cNvPr id="12" name="Text 8"/>
          <p:cNvSpPr/>
          <p:nvPr/>
        </p:nvSpPr>
        <p:spPr>
          <a:xfrm>
            <a:off x="5486400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</a:t>
            </a:r>
          </a:p>
        </p:txBody>
      </p:sp>
      <p:sp>
        <p:nvSpPr>
          <p:cNvPr id="13" name="Text 9"/>
          <p:cNvSpPr/>
          <p:nvPr/>
        </p:nvSpPr>
        <p:spPr>
          <a:xfrm>
            <a:off x="4681728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 x as seven bits: 1 is 0000001, 127 is 1111111. That bitstring is the chromosome.</a:t>
            </a:r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</a:p>
        </p:txBody>
      </p:sp>
      <p:sp>
        <p:nvSpPr>
          <p:cNvPr id="17" name="Text 12"/>
          <p:cNvSpPr/>
          <p:nvPr/>
        </p:nvSpPr>
        <p:spPr>
          <a:xfrm>
            <a:off x="9308592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</a:t>
            </a:r>
          </a:p>
        </p:txBody>
      </p:sp>
      <p:sp>
        <p:nvSpPr>
          <p:cNvPr id="18" name="Text 13"/>
          <p:cNvSpPr/>
          <p:nvPr/>
        </p:nvSpPr>
        <p:spPr>
          <a:xfrm>
            <a:off x="850392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random starting population of bitstrings scattered across the full 0-127 range.</a:t>
            </a:r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</a:p>
        </p:txBody>
      </p:sp>
      <p:sp>
        <p:nvSpPr>
          <p:cNvPr id="22" name="Text 16"/>
          <p:cNvSpPr/>
          <p:nvPr/>
        </p:nvSpPr>
        <p:spPr>
          <a:xfrm>
            <a:off x="1664208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</a:p>
        </p:txBody>
      </p:sp>
      <p:sp>
        <p:nvSpPr>
          <p:cNvPr id="23" name="Text 17"/>
          <p:cNvSpPr/>
          <p:nvPr/>
        </p:nvSpPr>
        <p:spPr>
          <a:xfrm>
            <a:off x="859536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is just f(x). Decode each chromosome, evaluate, and rank the population.</a:t>
            </a:r>
          </a:p>
        </p:txBody>
      </p:sp>
      <p:sp>
        <p:nvSpPr>
          <p:cNvPr id="24" name="Shape 18"/>
          <p:cNvSpPr/>
          <p:nvPr/>
        </p:nvSpPr>
        <p:spPr>
          <a:xfrm>
            <a:off x="4389120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</a:p>
        </p:txBody>
      </p:sp>
      <p:sp>
        <p:nvSpPr>
          <p:cNvPr id="27" name="Text 20"/>
          <p:cNvSpPr/>
          <p:nvPr/>
        </p:nvSpPr>
        <p:spPr>
          <a:xfrm>
            <a:off x="5486400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Breed</a:t>
            </a:r>
          </a:p>
        </p:txBody>
      </p:sp>
      <p:sp>
        <p:nvSpPr>
          <p:cNvPr id="28" name="Text 21"/>
          <p:cNvSpPr/>
          <p:nvPr/>
        </p:nvSpPr>
        <p:spPr>
          <a:xfrm>
            <a:off x="4681728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at 0.7 and mutation at 0.001. Swap bit segments between parents, flip the occasional bit.</a:t>
            </a:r>
          </a:p>
        </p:txBody>
      </p:sp>
      <p:sp>
        <p:nvSpPr>
          <p:cNvPr id="29" name="Shape 22"/>
          <p:cNvSpPr/>
          <p:nvPr/>
        </p:nvSpPr>
        <p:spPr>
          <a:xfrm>
            <a:off x="8211312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67344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</a:p>
        </p:txBody>
      </p:sp>
      <p:sp>
        <p:nvSpPr>
          <p:cNvPr id="32" name="Text 24"/>
          <p:cNvSpPr/>
          <p:nvPr/>
        </p:nvSpPr>
        <p:spPr>
          <a:xfrm>
            <a:off x="9308592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</a:t>
            </a:r>
          </a:p>
        </p:txBody>
      </p:sp>
      <p:sp>
        <p:nvSpPr>
          <p:cNvPr id="33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a handful </a:t>
            </a:r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</a:t>
            </a:r>
            <a:r>
              <a:rPr lang="en-US" sz="125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generations, </a:t>
            </a: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population piles up on 0111100 - which is 60.</a:t>
            </a:r>
          </a:p>
        </p:txBody>
      </p:sp>
    </p:spTree>
    <p:extLst>
      <p:ext uri="{BB962C8B-B14F-4D97-AF65-F5344CB8AC3E}">
        <p14:creationId xmlns:p14="http://schemas.microsoft.com/office/powerpoint/2010/main" val="2705000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Genetic Algorithms Are Good At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talk about where they fall down, here is why you would reach for one in the first place.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</a:p>
        </p:txBody>
      </p:sp>
      <p:sp>
        <p:nvSpPr>
          <p:cNvPr id="7" name="Text 4"/>
          <p:cNvSpPr/>
          <p:nvPr/>
        </p:nvSpPr>
        <p:spPr>
          <a:xfrm>
            <a:off x="1664208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Gradient Required</a:t>
            </a:r>
          </a:p>
        </p:txBody>
      </p:sp>
      <p:sp>
        <p:nvSpPr>
          <p:cNvPr id="8" name="Text 5"/>
          <p:cNvSpPr/>
          <p:nvPr/>
        </p:nvSpPr>
        <p:spPr>
          <a:xfrm>
            <a:off x="859536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fitness function can be a black box, a simulation, or a legacy cost engine. It never has to be differentiable.</a:t>
            </a:r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</a:p>
        </p:txBody>
      </p:sp>
      <p:sp>
        <p:nvSpPr>
          <p:cNvPr id="12" name="Text 8"/>
          <p:cNvSpPr/>
          <p:nvPr/>
        </p:nvSpPr>
        <p:spPr>
          <a:xfrm>
            <a:off x="5486400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Answers Early</a:t>
            </a:r>
          </a:p>
        </p:txBody>
      </p:sp>
      <p:sp>
        <p:nvSpPr>
          <p:cNvPr id="13" name="Text 9"/>
          <p:cNvSpPr/>
          <p:nvPr/>
        </p:nvSpPr>
        <p:spPr>
          <a:xfrm>
            <a:off x="4681728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a usable solution in the first few generations and a better one the longer you let it run.</a:t>
            </a:r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</a:p>
        </p:txBody>
      </p:sp>
      <p:sp>
        <p:nvSpPr>
          <p:cNvPr id="17" name="Text 12"/>
          <p:cNvSpPr/>
          <p:nvPr/>
        </p:nvSpPr>
        <p:spPr>
          <a:xfrm>
            <a:off x="9308592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Set, Not a Single Answer</a:t>
            </a:r>
          </a:p>
        </p:txBody>
      </p:sp>
      <p:sp>
        <p:nvSpPr>
          <p:cNvPr id="18" name="Text 13"/>
          <p:cNvSpPr/>
          <p:nvPr/>
        </p:nvSpPr>
        <p:spPr>
          <a:xfrm>
            <a:off x="850392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population holds several distinct near-optimal options a human can choose between.</a:t>
            </a:r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</a:p>
        </p:txBody>
      </p:sp>
      <p:sp>
        <p:nvSpPr>
          <p:cNvPr id="22" name="Text 16"/>
          <p:cNvSpPr/>
          <p:nvPr/>
        </p:nvSpPr>
        <p:spPr>
          <a:xfrm>
            <a:off x="1664208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Embarrassingly Parallel</a:t>
            </a:r>
          </a:p>
        </p:txBody>
      </p:sp>
      <p:sp>
        <p:nvSpPr>
          <p:cNvPr id="23" name="Text 17"/>
          <p:cNvSpPr/>
          <p:nvPr/>
        </p:nvSpPr>
        <p:spPr>
          <a:xfrm>
            <a:off x="859536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evaluation is independent per individual - fan it out across cores, tasks, or machines.</a:t>
            </a:r>
          </a:p>
        </p:txBody>
      </p:sp>
      <p:sp>
        <p:nvSpPr>
          <p:cNvPr id="24" name="Shape 18"/>
          <p:cNvSpPr/>
          <p:nvPr/>
        </p:nvSpPr>
        <p:spPr>
          <a:xfrm>
            <a:off x="4389120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</a:p>
        </p:txBody>
      </p:sp>
      <p:sp>
        <p:nvSpPr>
          <p:cNvPr id="27" name="Text 20"/>
          <p:cNvSpPr/>
          <p:nvPr/>
        </p:nvSpPr>
        <p:spPr>
          <a:xfrm>
            <a:off x="5486400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Escapes Local Optima</a:t>
            </a:r>
          </a:p>
        </p:txBody>
      </p:sp>
      <p:sp>
        <p:nvSpPr>
          <p:cNvPr id="28" name="Text 21"/>
          <p:cNvSpPr/>
          <p:nvPr/>
        </p:nvSpPr>
        <p:spPr>
          <a:xfrm>
            <a:off x="4681728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plus a diverse population keeps the search from getting stuck the way hill-climbing does.</a:t>
            </a:r>
          </a:p>
        </p:txBody>
      </p:sp>
      <p:sp>
        <p:nvSpPr>
          <p:cNvPr id="29" name="Shape 22"/>
          <p:cNvSpPr/>
          <p:nvPr/>
        </p:nvSpPr>
        <p:spPr>
          <a:xfrm>
            <a:off x="8211312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67344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</a:p>
        </p:txBody>
      </p:sp>
      <p:sp>
        <p:nvSpPr>
          <p:cNvPr id="32" name="Text 24"/>
          <p:cNvSpPr/>
          <p:nvPr/>
        </p:nvSpPr>
        <p:spPr>
          <a:xfrm>
            <a:off x="9308592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 to Retrofit</a:t>
            </a:r>
          </a:p>
        </p:txBody>
      </p:sp>
      <p:sp>
        <p:nvSpPr>
          <p:cNvPr id="33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already compute a cost, you already have most of a GA. Encoding and operators are the rest.</a:t>
            </a:r>
          </a:p>
        </p:txBody>
      </p:sp>
    </p:spTree>
    <p:extLst>
      <p:ext uri="{BB962C8B-B14F-4D97-AF65-F5344CB8AC3E}">
        <p14:creationId xmlns:p14="http://schemas.microsoft.com/office/powerpoint/2010/main" val="414162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Powerful — but every design choice is a tradeoff.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70248" y="2788920"/>
            <a:ext cx="3657600" cy="2834640"/>
          </a:xfrm>
          <a:prstGeom prst="triangle">
            <a:avLst/>
          </a:prstGeom>
          <a:solidFill>
            <a:srgbClr val="13233F"/>
          </a:solidFill>
          <a:ln w="317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27448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TRADEOFFS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53128" y="1188720"/>
            <a:ext cx="3291840" cy="1536192"/>
          </a:xfrm>
          <a:prstGeom prst="roundRect">
            <a:avLst>
              <a:gd name="adj" fmla="val 8333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54296" y="1371600"/>
            <a:ext cx="530352" cy="530352"/>
          </a:xfrm>
          <a:prstGeom prst="ellipse">
            <a:avLst/>
          </a:prstGeom>
          <a:solidFill>
            <a:srgbClr val="1F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assets/icons/target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80" y="149888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21808" y="13167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Function Design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81728" y="20116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 IS the goal — a flawed fitness function evolves the wrong thing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4892040"/>
            <a:ext cx="3291840" cy="1536192"/>
          </a:xfrm>
          <a:prstGeom prst="roundRect">
            <a:avLst>
              <a:gd name="adj" fmla="val 8333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5528" y="5074920"/>
            <a:ext cx="530352" cy="530352"/>
          </a:xfrm>
          <a:prstGeom prst="ellipse">
            <a:avLst/>
          </a:prstGeom>
          <a:solidFill>
            <a:srgbClr val="1F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icons/server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12" y="520220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50200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Computational Cost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22960" y="57150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Thousands of evaluations per run; fitness must be fast or parallel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75320" y="4892040"/>
            <a:ext cx="3291840" cy="1536192"/>
          </a:xfrm>
          <a:prstGeom prst="roundRect">
            <a:avLst>
              <a:gd name="adj" fmla="val 8333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76488" y="5074920"/>
            <a:ext cx="530352" cy="530352"/>
          </a:xfrm>
          <a:prstGeom prst="ellipse">
            <a:avLst/>
          </a:prstGeom>
          <a:solidFill>
            <a:srgbClr val="1F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assets/icons/flas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772" y="52022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50200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Challenges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503920" y="57150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Populations can converge early on mediocre solutions and stop improving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Questions to Answer Before You Write Any Code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depends on the problem in front of you. Decide them deliberately, not by accident.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7" name="Text 4"/>
          <p:cNvSpPr/>
          <p:nvPr/>
        </p:nvSpPr>
        <p:spPr>
          <a:xfrm>
            <a:off x="1664208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Encoding?</a:t>
            </a:r>
          </a:p>
        </p:txBody>
      </p:sp>
      <p:sp>
        <p:nvSpPr>
          <p:cNvPr id="8" name="Text 5"/>
          <p:cNvSpPr/>
          <p:nvPr/>
        </p:nvSpPr>
        <p:spPr>
          <a:xfrm>
            <a:off x="859536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Binary, permutation, or real-valued? The choice constrains which crossover and mutation operators are even legal.</a:t>
            </a:r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12" name="Text 8"/>
          <p:cNvSpPr/>
          <p:nvPr/>
        </p:nvSpPr>
        <p:spPr>
          <a:xfrm>
            <a:off x="5486400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Fitness Function?</a:t>
            </a:r>
          </a:p>
        </p:txBody>
      </p:sp>
      <p:sp>
        <p:nvSpPr>
          <p:cNvPr id="13" name="Text 9"/>
          <p:cNvSpPr/>
          <p:nvPr/>
        </p:nvSpPr>
        <p:spPr>
          <a:xfrm>
            <a:off x="4681728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Usually, </a:t>
            </a: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inverse of a cost you already compute. Get </a:t>
            </a:r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25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wrong, and the GA will optimize </a:t>
            </a: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wrong thing beautifully.</a:t>
            </a:r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17" name="Text 12"/>
          <p:cNvSpPr/>
          <p:nvPr/>
        </p:nvSpPr>
        <p:spPr>
          <a:xfrm>
            <a:off x="9308592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Selection?</a:t>
            </a:r>
          </a:p>
        </p:txBody>
      </p:sp>
      <p:sp>
        <p:nvSpPr>
          <p:cNvPr id="18" name="Text 13"/>
          <p:cNvSpPr/>
          <p:nvPr/>
        </p:nvSpPr>
        <p:spPr>
          <a:xfrm>
            <a:off x="850392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Roulette, rank, tournament, or elitism? Pick for the shape of your fitness distribution, not out of habit.</a:t>
            </a:r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22" name="Text 16"/>
          <p:cNvSpPr/>
          <p:nvPr/>
        </p:nvSpPr>
        <p:spPr>
          <a:xfrm>
            <a:off x="1664208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Operators?</a:t>
            </a:r>
          </a:p>
        </p:txBody>
      </p:sp>
      <p:sp>
        <p:nvSpPr>
          <p:cNvPr id="23" name="Text 17"/>
          <p:cNvSpPr/>
          <p:nvPr/>
        </p:nvSpPr>
        <p:spPr>
          <a:xfrm>
            <a:off x="859536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Single-point, two-point, or uniform crossover. Bit-flip or swap mutation? They must match the encoding.</a:t>
            </a:r>
          </a:p>
        </p:txBody>
      </p:sp>
      <p:sp>
        <p:nvSpPr>
          <p:cNvPr id="24" name="Shape 18"/>
          <p:cNvSpPr/>
          <p:nvPr/>
        </p:nvSpPr>
        <p:spPr>
          <a:xfrm>
            <a:off x="4389120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27" name="Text 20"/>
          <p:cNvSpPr/>
          <p:nvPr/>
        </p:nvSpPr>
        <p:spPr>
          <a:xfrm>
            <a:off x="5486400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Does It Stop?</a:t>
            </a:r>
          </a:p>
        </p:txBody>
      </p:sp>
      <p:sp>
        <p:nvSpPr>
          <p:cNvPr id="28" name="Text 21"/>
          <p:cNvSpPr/>
          <p:nvPr/>
        </p:nvSpPr>
        <p:spPr>
          <a:xfrm>
            <a:off x="4681728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 cap, target fitness, or no improvement for N generations? Decide before you press run.</a:t>
            </a:r>
          </a:p>
        </p:txBody>
      </p:sp>
      <p:sp>
        <p:nvSpPr>
          <p:cNvPr id="29" name="Shape 22"/>
          <p:cNvSpPr/>
          <p:nvPr/>
        </p:nvSpPr>
        <p:spPr>
          <a:xfrm>
            <a:off x="8211312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67344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</a:p>
        </p:txBody>
      </p:sp>
      <p:sp>
        <p:nvSpPr>
          <p:cNvPr id="32" name="Text 24"/>
          <p:cNvSpPr/>
          <p:nvPr/>
        </p:nvSpPr>
        <p:spPr>
          <a:xfrm>
            <a:off x="9308592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Will You Know?</a:t>
            </a:r>
          </a:p>
        </p:txBody>
      </p:sp>
      <p:sp>
        <p:nvSpPr>
          <p:cNvPr id="33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your baseline up front. Without one, “the GA found something” is not a result.</a:t>
            </a:r>
          </a:p>
        </p:txBody>
      </p:sp>
    </p:spTree>
    <p:extLst>
      <p:ext uri="{BB962C8B-B14F-4D97-AF65-F5344CB8AC3E}">
        <p14:creationId xmlns:p14="http://schemas.microsoft.com/office/powerpoint/2010/main" val="2506879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 Freight Route Optimization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AirFreightRouter</a:t>
            </a:r>
            <a:r>
              <a:rPr lang="en-US" sz="150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C# / .NET genetic algorithm that evolves cargo routes across a global airport network.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108960"/>
            <a:ext cx="2423160" cy="1417320"/>
          </a:xfrm>
          <a:prstGeom prst="roundRect">
            <a:avLst>
              <a:gd name="adj" fmla="val 9032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3291840"/>
            <a:ext cx="502920" cy="50292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assets/icons/doll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34125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32735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3886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fuel, fees, and handling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3108960"/>
            <a:ext cx="2423160" cy="1417320"/>
          </a:xfrm>
          <a:prstGeom prst="roundRect">
            <a:avLst>
              <a:gd name="adj" fmla="val 9032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55848" y="3291840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assets/icons/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549" y="3412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95928" y="32735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74136" y="3886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delivery windows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" y="4709160"/>
            <a:ext cx="2423160" cy="1417320"/>
          </a:xfrm>
          <a:prstGeom prst="roundRect">
            <a:avLst>
              <a:gd name="adj" fmla="val 9032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49808" y="489204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assets/icons/gaug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501274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48737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68096" y="54864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Maximize load and utilization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172968" y="4709160"/>
            <a:ext cx="2423160" cy="1417320"/>
          </a:xfrm>
          <a:prstGeom prst="roundRect">
            <a:avLst>
              <a:gd name="adj" fmla="val 9032"/>
            </a:avLst>
          </a:prstGeom>
          <a:solidFill>
            <a:srgbClr val="13233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355848" y="4892040"/>
            <a:ext cx="502920" cy="50292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ck/assets/icons/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549" y="501274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995928" y="48737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3374136" y="54864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Capacity, customs, curfews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66928" y="6263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github.com/cwoodruff/AirFreightRouter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BC3780-AE33-14F9-68EC-FBDAFF5C57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1623785"/>
            <a:ext cx="6260592" cy="46437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Genetics to Routing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terminology table — now wearing an air-freight uniform.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480560" cy="50292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 ALGORITHM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93992" y="1600200"/>
            <a:ext cx="4480560" cy="50292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93992" y="1600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EQUIVALENT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14416" y="24688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93992" y="2331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93992" y="2331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Chromosome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14416" y="31546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93992" y="30175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3017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14416" y="38404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93992" y="37033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3992" y="37033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Routes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14400" y="43891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Function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14416" y="45262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93992" y="43891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93992" y="43891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Score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14400" y="50749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074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14416" y="52120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93992" y="50749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93992" y="5074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Routes Survive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14400" y="5760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12700">
            <a:solidFill>
              <a:srgbClr val="C4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760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614416" y="5897880"/>
            <a:ext cx="96012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93992" y="5760720"/>
            <a:ext cx="4480560" cy="530352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93992" y="5760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Variation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097039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AirFreightRouter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route fitness improves steadily across 50 generations.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78638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1920240"/>
            <a:ext cx="2743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9828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66BB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+120%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0982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gain, generation 1 → 50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915400" y="3401568"/>
            <a:ext cx="2743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98280" y="35112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098280" y="4096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generations to near-optimal routes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15400" y="4882896"/>
            <a:ext cx="2743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098280" y="4992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098280" y="5577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routing rules written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09058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AirFreightRouter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965960" y="11887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2E6DA4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96596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 Network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89788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of airports, distances, and constraints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48456" y="1751076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65960" y="191109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9110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Generator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897880" y="19110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the initial random population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48456" y="2473452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263347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4FC3F7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2633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Evaluation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897880" y="26334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cost, time, and constraint violations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48456" y="3195828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65960" y="3355848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3E8ED0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65960" y="3355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Engine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3355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Roulette selection of parent routes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48456" y="3918204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65960" y="407822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65960" y="40782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Engine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897880" y="4078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Splices parent routes at shared airports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48456" y="4640580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65960" y="48006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9800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65960" y="4800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Engine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897880" y="4800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Swaps or reorders airports in a route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48456" y="5362956"/>
            <a:ext cx="292608" cy="146304"/>
          </a:xfrm>
          <a:prstGeom prst="downArrow">
            <a:avLst/>
          </a:prstGeom>
          <a:solidFill>
            <a:srgbClr val="B8CBDC"/>
          </a:solidFill>
          <a:ln w="12700">
            <a:solidFill>
              <a:srgbClr val="B8CB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65960" y="55229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65960" y="55229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Route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897880" y="55229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Fittest chromosome after N generations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89720" y="1737360"/>
            <a:ext cx="2468880" cy="35661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1832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18320" y="242316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18320" y="2423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14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418320" y="3081528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18320" y="3081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10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418320" y="373989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EDF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18320" y="37398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Avalonia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418320" y="4398264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18320" y="4398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98986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Tuning the Knobs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these numbers out loud when you show results. Without them, nobody can reproduce what you just demonstrated.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</a:p>
        </p:txBody>
      </p:sp>
      <p:sp>
        <p:nvSpPr>
          <p:cNvPr id="7" name="Text 4"/>
          <p:cNvSpPr/>
          <p:nvPr/>
        </p:nvSpPr>
        <p:spPr>
          <a:xfrm>
            <a:off x="1664208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Size</a:t>
            </a:r>
          </a:p>
        </p:txBody>
      </p:sp>
      <p:sp>
        <p:nvSpPr>
          <p:cNvPr id="8" name="Text 5"/>
          <p:cNvSpPr/>
          <p:nvPr/>
        </p:nvSpPr>
        <p:spPr>
          <a:xfrm>
            <a:off x="859536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candidates per generation. Bigger means more diversity and more compute. Typical: 50 to 1,000.</a:t>
            </a:r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</a:p>
        </p:txBody>
      </p:sp>
      <p:sp>
        <p:nvSpPr>
          <p:cNvPr id="12" name="Text 8"/>
          <p:cNvSpPr/>
          <p:nvPr/>
        </p:nvSpPr>
        <p:spPr>
          <a:xfrm>
            <a:off x="5486400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Cap</a:t>
            </a:r>
          </a:p>
        </p:txBody>
      </p:sp>
      <p:sp>
        <p:nvSpPr>
          <p:cNvPr id="13" name="Text 9"/>
          <p:cNvSpPr/>
          <p:nvPr/>
        </p:nvSpPr>
        <p:spPr>
          <a:xfrm>
            <a:off x="4681728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hard ceiling on iterations, and your worst-case runtime. Typical: 100 to 5,000.</a:t>
            </a:r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67344" y="203911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</a:p>
        </p:txBody>
      </p:sp>
      <p:sp>
        <p:nvSpPr>
          <p:cNvPr id="17" name="Text 12"/>
          <p:cNvSpPr/>
          <p:nvPr/>
        </p:nvSpPr>
        <p:spPr>
          <a:xfrm>
            <a:off x="9308592" y="203911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Method</a:t>
            </a:r>
          </a:p>
        </p:txBody>
      </p:sp>
      <p:sp>
        <p:nvSpPr>
          <p:cNvPr id="18" name="Text 13"/>
          <p:cNvSpPr/>
          <p:nvPr/>
        </p:nvSpPr>
        <p:spPr>
          <a:xfrm>
            <a:off x="850392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Roulette, rank, or k-way tournament. Tournament with k = 2 or 3 is the common default.</a:t>
            </a:r>
          </a:p>
        </p:txBody>
      </p:sp>
      <p:sp>
        <p:nvSpPr>
          <p:cNvPr id="19" name="Shape 14"/>
          <p:cNvSpPr/>
          <p:nvPr/>
        </p:nvSpPr>
        <p:spPr>
          <a:xfrm>
            <a:off x="566928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</a:p>
        </p:txBody>
      </p:sp>
      <p:sp>
        <p:nvSpPr>
          <p:cNvPr id="22" name="Text 16"/>
          <p:cNvSpPr/>
          <p:nvPr/>
        </p:nvSpPr>
        <p:spPr>
          <a:xfrm>
            <a:off x="1664208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 Rate</a:t>
            </a:r>
          </a:p>
        </p:txBody>
      </p:sp>
      <p:sp>
        <p:nvSpPr>
          <p:cNvPr id="23" name="Text 17"/>
          <p:cNvSpPr/>
          <p:nvPr/>
        </p:nvSpPr>
        <p:spPr>
          <a:xfrm>
            <a:off x="859536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two parents actually recombine. Typical: 0.6 to 0.9.</a:t>
            </a:r>
          </a:p>
        </p:txBody>
      </p:sp>
      <p:sp>
        <p:nvSpPr>
          <p:cNvPr id="24" name="Shape 18"/>
          <p:cNvSpPr/>
          <p:nvPr/>
        </p:nvSpPr>
        <p:spPr>
          <a:xfrm>
            <a:off x="4389120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</a:p>
        </p:txBody>
      </p:sp>
      <p:sp>
        <p:nvSpPr>
          <p:cNvPr id="27" name="Text 20"/>
          <p:cNvSpPr/>
          <p:nvPr/>
        </p:nvSpPr>
        <p:spPr>
          <a:xfrm>
            <a:off x="5486400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 Rate</a:t>
            </a:r>
          </a:p>
        </p:txBody>
      </p:sp>
      <p:sp>
        <p:nvSpPr>
          <p:cNvPr id="28" name="Text 21"/>
          <p:cNvSpPr/>
          <p:nvPr/>
        </p:nvSpPr>
        <p:spPr>
          <a:xfrm>
            <a:off x="4681728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often a gene is randomly altered. Kept deliberately </a:t>
            </a:r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low.</a:t>
            </a:r>
            <a:endParaRPr lang="en-US" sz="1250" b="0" dirty="0">
              <a:solidFill>
                <a:srgbClr val="5A6B7C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211312" y="4087368"/>
            <a:ext cx="3602736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67344" y="43434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</a:p>
        </p:txBody>
      </p:sp>
      <p:sp>
        <p:nvSpPr>
          <p:cNvPr id="32" name="Text 24"/>
          <p:cNvSpPr/>
          <p:nvPr/>
        </p:nvSpPr>
        <p:spPr>
          <a:xfrm>
            <a:off x="9308592" y="4343400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Elitism Count</a:t>
            </a:r>
          </a:p>
        </p:txBody>
      </p:sp>
      <p:sp>
        <p:nvSpPr>
          <p:cNvPr id="33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top performers survive untouched into the </a:t>
            </a:r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</a:t>
            </a:r>
            <a:r>
              <a:rPr lang="en-US" sz="125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generation? </a:t>
            </a:r>
            <a:r>
              <a:rPr lang="en-US" sz="1250" b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Usually, </a:t>
            </a:r>
            <a:r>
              <a:rPr lang="en-US" sz="1250" b="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or 2.</a:t>
            </a:r>
          </a:p>
        </p:txBody>
      </p:sp>
      <p:sp>
        <p:nvSpPr>
          <p:cNvPr id="60" name="Text 60"/>
          <p:cNvSpPr/>
          <p:nvPr/>
        </p:nvSpPr>
        <p:spPr>
          <a:xfrm>
            <a:off x="571500" y="6375400"/>
            <a:ext cx="110617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Ranges are common starting points from the literature - replace each with the value AirFreightRouter actually ships with before you present.</a:t>
            </a:r>
          </a:p>
        </p:txBody>
      </p:sp>
    </p:spTree>
    <p:extLst>
      <p:ext uri="{BB962C8B-B14F-4D97-AF65-F5344CB8AC3E}">
        <p14:creationId xmlns:p14="http://schemas.microsoft.com/office/powerpoint/2010/main" val="1900487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0368" y="502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30368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84248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AirFreightRouter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74320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screenshot — replace during rehearsal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15768" y="5715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for: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33088" y="571500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33088" y="5715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550408" y="571500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50408" y="5715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67728" y="571500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67728" y="5715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385048" y="571500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85048" y="5715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4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BE6B849-07F8-B754-00A9-0FD82F9D2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106" y="1703439"/>
            <a:ext cx="5161788" cy="38286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Just Happened?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the demo maps straight back to the lifecycle we started with.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60" y="233172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6D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76656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routes created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53996" y="3118104"/>
            <a:ext cx="22860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496312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244" y="23317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9464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2606040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route scored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83380" y="3118104"/>
            <a:ext cx="22860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25696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23317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98848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E8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35424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routes chosen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12764" y="3118104"/>
            <a:ext cx="22860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355080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2331720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8232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6BB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64808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recombined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042148" y="3118104"/>
            <a:ext cx="22860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284464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396" y="2331720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57616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394192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Airports swapped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971532" y="3118104"/>
            <a:ext cx="228600" cy="256032"/>
          </a:xfrm>
          <a:prstGeom prst="rightArrow">
            <a:avLst/>
          </a:prstGeom>
          <a:solidFill>
            <a:srgbClr val="B8CB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213848" y="2103120"/>
            <a:ext cx="1673352" cy="2286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/home/claude/deck/assets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780" y="2331720"/>
            <a:ext cx="475488" cy="4754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287000" y="29718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10323576" y="347472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Champion route emerged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2011680" y="5029200"/>
            <a:ext cx="8183880" cy="1097280"/>
          </a:xfrm>
          <a:prstGeom prst="roundRect">
            <a:avLst>
              <a:gd name="adj" fmla="val 11667"/>
            </a:avLst>
          </a:prstGeom>
          <a:solidFill>
            <a:srgbClr val="EDF7EE"/>
          </a:solidFill>
          <a:ln w="12700">
            <a:solidFill>
              <a:srgbClr val="CBE6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2286000" y="5029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takeaway:  </a:t>
            </a:r>
            <a:r>
              <a:rPr lang="en-US" sz="1400" dirty="0">
                <a:solidFill>
                  <a:srgbClr val="3C5C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routing rules were ever written. We only defined what a good route looks like — evolution discovered how to build one.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6953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0" name="Motif 900"/>
          <p:cNvCxnSpPr/>
          <p:nvPr/>
        </p:nvCxnSpPr>
        <p:spPr>
          <a:xfrm>
            <a:off x="11493500" y="3810000"/>
            <a:ext cx="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1" name="Motif 901"/>
          <p:cNvCxnSpPr/>
          <p:nvPr/>
        </p:nvCxnSpPr>
        <p:spPr>
          <a:xfrm flipH="1">
            <a:off x="11072695" y="4066032"/>
            <a:ext cx="841609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2" name="Motif 902"/>
          <p:cNvCxnSpPr/>
          <p:nvPr/>
        </p:nvCxnSpPr>
        <p:spPr>
          <a:xfrm flipH="1">
            <a:off x="10909715" y="4322064"/>
            <a:ext cx="1167570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3" name="Motif 903"/>
          <p:cNvCxnSpPr/>
          <p:nvPr/>
        </p:nvCxnSpPr>
        <p:spPr>
          <a:xfrm flipH="1">
            <a:off x="11104416" y="4578096"/>
            <a:ext cx="7781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4" name="Motif 904"/>
          <p:cNvCxnSpPr/>
          <p:nvPr/>
        </p:nvCxnSpPr>
        <p:spPr>
          <a:xfrm>
            <a:off x="11449494" y="4834128"/>
            <a:ext cx="88012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5" name="Motif 905"/>
          <p:cNvCxnSpPr/>
          <p:nvPr/>
        </p:nvCxnSpPr>
        <p:spPr>
          <a:xfrm>
            <a:off x="11043366" y="5090160"/>
            <a:ext cx="90026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6" name="Motif 906"/>
          <p:cNvCxnSpPr/>
          <p:nvPr/>
        </p:nvCxnSpPr>
        <p:spPr>
          <a:xfrm>
            <a:off x="10913032" y="5346192"/>
            <a:ext cx="1160935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7" name="Motif 907"/>
          <p:cNvCxnSpPr/>
          <p:nvPr/>
        </p:nvCxnSpPr>
        <p:spPr>
          <a:xfrm>
            <a:off x="11138347" y="5602224"/>
            <a:ext cx="710306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8" name="Motif 908"/>
          <p:cNvCxnSpPr/>
          <p:nvPr/>
        </p:nvCxnSpPr>
        <p:spPr>
          <a:xfrm flipH="1">
            <a:off x="11405738" y="5858256"/>
            <a:ext cx="17552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09" name="Motif 909"/>
          <p:cNvCxnSpPr/>
          <p:nvPr/>
        </p:nvCxnSpPr>
        <p:spPr>
          <a:xfrm flipH="1">
            <a:off x="11016595" y="6114288"/>
            <a:ext cx="953811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0" name="Motif 910"/>
          <p:cNvCxnSpPr/>
          <p:nvPr/>
        </p:nvCxnSpPr>
        <p:spPr>
          <a:xfrm flipH="1">
            <a:off x="10919648" y="6370320"/>
            <a:ext cx="1147704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1" name="Motif 911"/>
          <p:cNvCxnSpPr/>
          <p:nvPr/>
        </p:nvCxnSpPr>
        <p:spPr>
          <a:xfrm flipH="1">
            <a:off x="11174296" y="6626352"/>
            <a:ext cx="638407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cxnSp>
        <p:nvCxnSpPr>
          <p:cNvPr id="912" name="Motif 912"/>
          <p:cNvCxnSpPr/>
          <p:nvPr/>
        </p:nvCxnSpPr>
        <p:spPr>
          <a:xfrm>
            <a:off x="11362481" y="6882384"/>
            <a:ext cx="262038" cy="0"/>
          </a:xfrm>
          <a:prstGeom prst="line">
            <a:avLst/>
          </a:prstGeom>
          <a:ln w="9525">
            <a:solidFill>
              <a:srgbClr val="1B4F8C">
                <a:alpha val="9000"/>
              </a:srgbClr>
            </a:solidFill>
          </a:ln>
        </p:spPr>
      </p:cxnSp>
      <p:sp>
        <p:nvSpPr>
          <p:cNvPr id="913" name="Motif 913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Motif 914"/>
          <p:cNvSpPr/>
          <p:nvPr/>
        </p:nvSpPr>
        <p:spPr>
          <a:xfrm>
            <a:off x="11670624" y="3886499"/>
            <a:ext cx="103033" cy="10303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Motif 915"/>
          <p:cNvSpPr/>
          <p:nvPr/>
        </p:nvSpPr>
        <p:spPr>
          <a:xfrm>
            <a:off x="11867968" y="4019695"/>
            <a:ext cx="92674" cy="926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Motif 916"/>
          <p:cNvSpPr/>
          <p:nvPr/>
        </p:nvSpPr>
        <p:spPr>
          <a:xfrm>
            <a:off x="12000707" y="4155420"/>
            <a:ext cx="77255" cy="7725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Motif 917"/>
          <p:cNvSpPr/>
          <p:nvPr/>
        </p:nvSpPr>
        <p:spPr>
          <a:xfrm>
            <a:off x="12045943" y="4290722"/>
            <a:ext cx="62683" cy="6268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otif 918"/>
          <p:cNvSpPr/>
          <p:nvPr/>
        </p:nvSpPr>
        <p:spPr>
          <a:xfrm>
            <a:off x="11981887" y="4409867"/>
            <a:ext cx="80427" cy="804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Motif 919"/>
          <p:cNvSpPr/>
          <p:nvPr/>
        </p:nvSpPr>
        <p:spPr>
          <a:xfrm>
            <a:off x="11835052" y="4530564"/>
            <a:ext cx="95064" cy="9506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otif 920"/>
          <p:cNvSpPr/>
          <p:nvPr/>
        </p:nvSpPr>
        <p:spPr>
          <a:xfrm>
            <a:off x="11628865" y="4653981"/>
            <a:ext cx="104261" cy="104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otif 921"/>
          <p:cNvSpPr/>
          <p:nvPr/>
        </p:nvSpPr>
        <p:spPr>
          <a:xfrm>
            <a:off x="11396219" y="4780853"/>
            <a:ext cx="106550" cy="10655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otif 922"/>
          <p:cNvSpPr/>
          <p:nvPr/>
        </p:nvSpPr>
        <p:spPr>
          <a:xfrm>
            <a:off x="11174231" y="4911361"/>
            <a:ext cx="101566" cy="101566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otif 923"/>
          <p:cNvSpPr/>
          <p:nvPr/>
        </p:nvSpPr>
        <p:spPr>
          <a:xfrm>
            <a:off x="10998315" y="5045108"/>
            <a:ext cx="90103" cy="9010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otif 924"/>
          <p:cNvSpPr/>
          <p:nvPr/>
        </p:nvSpPr>
        <p:spPr>
          <a:xfrm>
            <a:off x="10896536" y="5181180"/>
            <a:ext cx="73991" cy="7399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" name="Motif 925"/>
          <p:cNvSpPr/>
          <p:nvPr/>
        </p:nvSpPr>
        <p:spPr>
          <a:xfrm>
            <a:off x="10879972" y="5313132"/>
            <a:ext cx="66120" cy="661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" name="Motif 926"/>
          <p:cNvSpPr/>
          <p:nvPr/>
        </p:nvSpPr>
        <p:spPr>
          <a:xfrm>
            <a:off x="10943395" y="5432464"/>
            <a:ext cx="83487" cy="8348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" name="Motif 927"/>
          <p:cNvSpPr/>
          <p:nvPr/>
        </p:nvSpPr>
        <p:spPr>
          <a:xfrm>
            <a:off x="11089716" y="5553593"/>
            <a:ext cx="97261" cy="972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" name="Motif 928"/>
          <p:cNvSpPr/>
          <p:nvPr/>
        </p:nvSpPr>
        <p:spPr>
          <a:xfrm>
            <a:off x="11295594" y="5677618"/>
            <a:ext cx="105244" cy="10524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" name="Motif 929"/>
          <p:cNvSpPr/>
          <p:nvPr/>
        </p:nvSpPr>
        <p:spPr>
          <a:xfrm>
            <a:off x="11528181" y="5805175"/>
            <a:ext cx="106161" cy="106161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Motif 930"/>
          <p:cNvSpPr/>
          <p:nvPr/>
        </p:nvSpPr>
        <p:spPr>
          <a:xfrm>
            <a:off x="11750373" y="5936338"/>
            <a:ext cx="99867" cy="998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Motif 931"/>
          <p:cNvSpPr/>
          <p:nvPr/>
        </p:nvSpPr>
        <p:spPr>
          <a:xfrm>
            <a:off x="11926722" y="6070605"/>
            <a:ext cx="87367" cy="8736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Motif 932"/>
          <p:cNvSpPr/>
          <p:nvPr/>
        </p:nvSpPr>
        <p:spPr>
          <a:xfrm>
            <a:off x="12029094" y="6206978"/>
            <a:ext cx="70653" cy="70653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3" name="Motif 933"/>
          <p:cNvSpPr/>
          <p:nvPr/>
        </p:nvSpPr>
        <p:spPr>
          <a:xfrm>
            <a:off x="12032589" y="6335556"/>
            <a:ext cx="69527" cy="69527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Motif 934"/>
          <p:cNvSpPr/>
          <p:nvPr/>
        </p:nvSpPr>
        <p:spPr>
          <a:xfrm>
            <a:off x="11935524" y="6455126"/>
            <a:ext cx="86420" cy="86420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Motif 935"/>
          <p:cNvSpPr/>
          <p:nvPr/>
        </p:nvSpPr>
        <p:spPr>
          <a:xfrm>
            <a:off x="11763078" y="6576726"/>
            <a:ext cx="99252" cy="99252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6" name="Motif 936"/>
          <p:cNvSpPr/>
          <p:nvPr/>
        </p:nvSpPr>
        <p:spPr>
          <a:xfrm>
            <a:off x="11542761" y="6701381"/>
            <a:ext cx="105974" cy="105974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7" name="Motif 937"/>
          <p:cNvSpPr/>
          <p:nvPr/>
        </p:nvSpPr>
        <p:spPr>
          <a:xfrm>
            <a:off x="11309723" y="6829626"/>
            <a:ext cx="105515" cy="105515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Motif 938"/>
          <p:cNvSpPr/>
          <p:nvPr/>
        </p:nvSpPr>
        <p:spPr>
          <a:xfrm>
            <a:off x="11101142" y="6961426"/>
            <a:ext cx="97948" cy="97948"/>
          </a:xfrm>
          <a:prstGeom prst="ellipse">
            <a:avLst/>
          </a:prstGeom>
          <a:solidFill>
            <a:srgbClr val="1B4F8C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9" name="Motif 939"/>
          <p:cNvSpPr/>
          <p:nvPr/>
        </p:nvSpPr>
        <p:spPr>
          <a:xfrm>
            <a:off x="11440160" y="3756660"/>
            <a:ext cx="106680" cy="10668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Motif 940"/>
          <p:cNvSpPr/>
          <p:nvPr/>
        </p:nvSpPr>
        <p:spPr>
          <a:xfrm>
            <a:off x="11213343" y="3886499"/>
            <a:ext cx="103033" cy="10303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1" name="Motif 941"/>
          <p:cNvSpPr/>
          <p:nvPr/>
        </p:nvSpPr>
        <p:spPr>
          <a:xfrm>
            <a:off x="11026359" y="4019695"/>
            <a:ext cx="92674" cy="926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Motif 942"/>
          <p:cNvSpPr/>
          <p:nvPr/>
        </p:nvSpPr>
        <p:spPr>
          <a:xfrm>
            <a:off x="10909037" y="4155420"/>
            <a:ext cx="77255" cy="7725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3" name="Motif 943"/>
          <p:cNvSpPr/>
          <p:nvPr/>
        </p:nvSpPr>
        <p:spPr>
          <a:xfrm>
            <a:off x="10878373" y="4290722"/>
            <a:ext cx="62683" cy="6268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4" name="Motif 944"/>
          <p:cNvSpPr/>
          <p:nvPr/>
        </p:nvSpPr>
        <p:spPr>
          <a:xfrm>
            <a:off x="10924687" y="4409867"/>
            <a:ext cx="80427" cy="804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5" name="Motif 945"/>
          <p:cNvSpPr/>
          <p:nvPr/>
        </p:nvSpPr>
        <p:spPr>
          <a:xfrm>
            <a:off x="11056884" y="4530564"/>
            <a:ext cx="95064" cy="9506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Motif 946"/>
          <p:cNvSpPr/>
          <p:nvPr/>
        </p:nvSpPr>
        <p:spPr>
          <a:xfrm>
            <a:off x="11253874" y="4653981"/>
            <a:ext cx="104261" cy="104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7" name="Motif 947"/>
          <p:cNvSpPr/>
          <p:nvPr/>
        </p:nvSpPr>
        <p:spPr>
          <a:xfrm>
            <a:off x="11484231" y="4780853"/>
            <a:ext cx="106550" cy="10655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8" name="Motif 948"/>
          <p:cNvSpPr/>
          <p:nvPr/>
        </p:nvSpPr>
        <p:spPr>
          <a:xfrm>
            <a:off x="11711204" y="4911361"/>
            <a:ext cx="101566" cy="101566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9" name="Motif 949"/>
          <p:cNvSpPr/>
          <p:nvPr/>
        </p:nvSpPr>
        <p:spPr>
          <a:xfrm>
            <a:off x="11898582" y="5045108"/>
            <a:ext cx="90103" cy="9010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Motif 950"/>
          <p:cNvSpPr/>
          <p:nvPr/>
        </p:nvSpPr>
        <p:spPr>
          <a:xfrm>
            <a:off x="12016473" y="5181180"/>
            <a:ext cx="73991" cy="7399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1" name="Motif 951"/>
          <p:cNvSpPr/>
          <p:nvPr/>
        </p:nvSpPr>
        <p:spPr>
          <a:xfrm>
            <a:off x="12040908" y="5313132"/>
            <a:ext cx="66120" cy="661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Motif 952"/>
          <p:cNvSpPr/>
          <p:nvPr/>
        </p:nvSpPr>
        <p:spPr>
          <a:xfrm>
            <a:off x="11960118" y="5432464"/>
            <a:ext cx="83487" cy="8348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3" name="Motif 953"/>
          <p:cNvSpPr/>
          <p:nvPr/>
        </p:nvSpPr>
        <p:spPr>
          <a:xfrm>
            <a:off x="11800022" y="5553593"/>
            <a:ext cx="97261" cy="972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4" name="Motif 954"/>
          <p:cNvSpPr/>
          <p:nvPr/>
        </p:nvSpPr>
        <p:spPr>
          <a:xfrm>
            <a:off x="11586163" y="5677618"/>
            <a:ext cx="105244" cy="10524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Motif 955"/>
          <p:cNvSpPr/>
          <p:nvPr/>
        </p:nvSpPr>
        <p:spPr>
          <a:xfrm>
            <a:off x="11352658" y="5805175"/>
            <a:ext cx="106161" cy="106161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otif 956"/>
          <p:cNvSpPr/>
          <p:nvPr/>
        </p:nvSpPr>
        <p:spPr>
          <a:xfrm>
            <a:off x="11136759" y="5936338"/>
            <a:ext cx="99867" cy="998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otif 957"/>
          <p:cNvSpPr/>
          <p:nvPr/>
        </p:nvSpPr>
        <p:spPr>
          <a:xfrm>
            <a:off x="10972911" y="6070605"/>
            <a:ext cx="87367" cy="8736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otif 958"/>
          <p:cNvSpPr/>
          <p:nvPr/>
        </p:nvSpPr>
        <p:spPr>
          <a:xfrm>
            <a:off x="10887253" y="6206978"/>
            <a:ext cx="70653" cy="70653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otif 959"/>
          <p:cNvSpPr/>
          <p:nvPr/>
        </p:nvSpPr>
        <p:spPr>
          <a:xfrm>
            <a:off x="10884884" y="6335556"/>
            <a:ext cx="69527" cy="69527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Motif 960"/>
          <p:cNvSpPr/>
          <p:nvPr/>
        </p:nvSpPr>
        <p:spPr>
          <a:xfrm>
            <a:off x="10965056" y="6455126"/>
            <a:ext cx="86420" cy="86420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otif 961"/>
          <p:cNvSpPr/>
          <p:nvPr/>
        </p:nvSpPr>
        <p:spPr>
          <a:xfrm>
            <a:off x="11124671" y="6576726"/>
            <a:ext cx="99252" cy="99252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Motif 962"/>
          <p:cNvSpPr/>
          <p:nvPr/>
        </p:nvSpPr>
        <p:spPr>
          <a:xfrm>
            <a:off x="11338264" y="6701381"/>
            <a:ext cx="105974" cy="105974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otif 963"/>
          <p:cNvSpPr/>
          <p:nvPr/>
        </p:nvSpPr>
        <p:spPr>
          <a:xfrm>
            <a:off x="11571761" y="6829626"/>
            <a:ext cx="105515" cy="105515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otif 964"/>
          <p:cNvSpPr/>
          <p:nvPr/>
        </p:nvSpPr>
        <p:spPr>
          <a:xfrm>
            <a:off x="11787910" y="6961426"/>
            <a:ext cx="97948" cy="97948"/>
          </a:xfrm>
          <a:prstGeom prst="ellipse">
            <a:avLst/>
          </a:prstGeom>
          <a:solidFill>
            <a:srgbClr val="2E9BD6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65" name="Motif 965"/>
          <p:cNvCxnSpPr/>
          <p:nvPr/>
        </p:nvCxnSpPr>
        <p:spPr>
          <a:xfrm>
            <a:off x="0" y="6832600"/>
            <a:ext cx="12192000" cy="0"/>
          </a:xfrm>
          <a:prstGeom prst="line">
            <a:avLst/>
          </a:prstGeom>
          <a:ln w="19050">
            <a:solidFill>
              <a:srgbClr val="1B4F8C">
                <a:alpha val="22000"/>
              </a:srgbClr>
            </a:solidFill>
          </a:ln>
        </p:spPr>
      </p:cxnSp>
      <p:sp>
        <p:nvSpPr>
          <p:cNvPr id="2" name="Text 0"/>
          <p:cNvSpPr/>
          <p:nvPr/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and Resources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deeper — the classics, plus code you can run tonight.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1F4E79"/>
          </a:solidFill>
          <a:ln/>
          <a:effectLst>
            <a:outerShdw blurRad="114300" dist="38100" dir="5400000" algn="bl" rotWithShape="0">
              <a:srgbClr val="0A14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965960"/>
            <a:ext cx="54864" cy="301752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assets/icons/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94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69748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Algorithms in Search, Optimization &amp; Machine Learning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7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David E. Goldberg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96896" y="19659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2E6DA4"/>
          </a:solidFill>
          <a:ln/>
          <a:effectLst>
            <a:outerShdw blurRad="114300" dist="38100" dir="5400000" algn="bl" rotWithShape="0">
              <a:srgbClr val="0A14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24912" y="1965960"/>
            <a:ext cx="54864" cy="301752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assets/icons/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1945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98064" y="269748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Introduction to Genetic Algorithms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761488" y="434340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7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Melanie Mitchell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35424" y="1965960"/>
            <a:ext cx="1755648" cy="3017520"/>
          </a:xfrm>
          <a:prstGeom prst="roundRect">
            <a:avLst>
              <a:gd name="adj" fmla="val 3125"/>
            </a:avLst>
          </a:prstGeom>
          <a:solidFill>
            <a:srgbClr val="3E8ED0"/>
          </a:solidFill>
          <a:ln/>
          <a:effectLst>
            <a:outerShdw blurRad="114300" dist="38100" dir="5400000" algn="bl" rotWithShape="0">
              <a:srgbClr val="0A142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63440" y="1965960"/>
            <a:ext cx="54864" cy="301752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assets/icons/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21945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269748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Genetic Algorithms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00016" y="434340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7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Randy &amp; Sue Ellen Haupt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6928" y="5029200"/>
            <a:ext cx="6035040" cy="128016"/>
          </a:xfrm>
          <a:prstGeom prst="rect">
            <a:avLst/>
          </a:prstGeom>
          <a:solidFill>
            <a:srgbClr val="C9B9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58368" y="52303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classics — theory, intuition, and practice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178040" y="977225"/>
            <a:ext cx="4480560" cy="4160520"/>
          </a:xfrm>
          <a:prstGeom prst="roundRect">
            <a:avLst>
              <a:gd name="adj" fmla="val 3516"/>
            </a:avLst>
          </a:prstGeom>
          <a:solidFill>
            <a:srgbClr val="0F2036"/>
          </a:solidFill>
          <a:ln/>
          <a:effectLst>
            <a:outerShdw blurRad="101600" dist="25400" dir="5400000" algn="bl" rotWithShape="0">
              <a:srgbClr val="0A142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452360" y="116010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&amp; Code</a:t>
            </a:r>
            <a:endParaRPr lang="en-US" sz="1600" dirty="0"/>
          </a:p>
        </p:txBody>
      </p:sp>
      <p:pic>
        <p:nvPicPr>
          <p:cNvPr id="23" name="Image 3" descr="/home/claude/deck/assets/icons/githu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809329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28432" y="1681313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GeneticSharp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Mature open-source GA library for .NET</a:t>
            </a:r>
            <a:endParaRPr lang="en-US" sz="1450" dirty="0"/>
          </a:p>
        </p:txBody>
      </p:sp>
      <p:pic>
        <p:nvPicPr>
          <p:cNvPr id="25" name="Image 4" descr="/home/claude/deck/assets/icons/githu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769449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28432" y="2641433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AirFreightRouter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demo — clone it and experiment</a:t>
            </a:r>
            <a:endParaRPr lang="en-US" sz="1450" dirty="0"/>
          </a:p>
        </p:txBody>
      </p:sp>
      <p:pic>
        <p:nvPicPr>
          <p:cNvPr id="27" name="Image 5" descr="/home/claude/deck/assets/icons/githu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3729569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28432" y="3601553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GA repositories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AF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examples, from TSP to scheduling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7452360" y="4269065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7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→ repo links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5A520-3B94-03A3-C6CA-F04D93F35141}"/>
              </a:ext>
            </a:extLst>
          </p:cNvPr>
          <p:cNvSpPr txBox="1"/>
          <p:nvPr/>
        </p:nvSpPr>
        <p:spPr>
          <a:xfrm>
            <a:off x="221594" y="5845076"/>
            <a:ext cx="1164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https://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woodruff.dev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/evolve-your-c-code-with-ai-a-5-week-genetic-algorithms-bootcamp-for-developers/</a:t>
            </a:r>
          </a:p>
        </p:txBody>
      </p:sp>
    </p:spTree>
    <p:extLst>
      <p:ext uri="{BB962C8B-B14F-4D97-AF65-F5344CB8AC3E}">
        <p14:creationId xmlns:p14="http://schemas.microsoft.com/office/powerpoint/2010/main" val="1382897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685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27048" y="1737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2100" dirty="0"/>
          </a:p>
        </p:txBody>
      </p:sp>
      <p:pic>
        <p:nvPicPr>
          <p:cNvPr id="4" name="Image 0" descr="/home/claude/deck/assets/strip_dna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2514600"/>
            <a:ext cx="7863840" cy="2395728"/>
          </a:xfrm>
          <a:prstGeom prst="rect">
            <a:avLst/>
          </a:prstGeom>
        </p:spPr>
      </p:pic>
      <p:pic>
        <p:nvPicPr>
          <p:cNvPr id="5" name="Image 1" descr="/home/claude/deck/assets/icons/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936" y="5175504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5560" y="5102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woodruff.dev</a:t>
            </a:r>
            <a:endParaRPr lang="en-US" sz="1250" dirty="0"/>
          </a:p>
        </p:txBody>
      </p:sp>
      <p:pic>
        <p:nvPicPr>
          <p:cNvPr id="7" name="Image 2" descr="/home/claude/deck/assets/icons/githu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696" y="5175504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7320" y="5102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github.com/cwoodruff</a:t>
            </a:r>
            <a:endParaRPr lang="en-US" sz="1250" dirty="0"/>
          </a:p>
        </p:txBody>
      </p:sp>
      <p:pic>
        <p:nvPicPr>
          <p:cNvPr id="9" name="Image 3" descr="/home/claude/deck/assets/icons/envelop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456" y="5175504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09080" y="5102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chris@woodruff.dev</a:t>
            </a:r>
            <a:endParaRPr lang="en-US" sz="1250" dirty="0"/>
          </a:p>
        </p:txBody>
      </p:sp>
      <p:pic>
        <p:nvPicPr>
          <p:cNvPr id="11" name="Image 4" descr="/home/claude/deck/assets/icons/qr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0216" y="5175504"/>
            <a:ext cx="310896" cy="3108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460840" y="5102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Slides &amp; code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1527048" y="5806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66BB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EVOLVE BETTER SOLUTIONS</a:t>
            </a:r>
            <a:endParaRPr lang="en-US" sz="3000" dirty="0"/>
          </a:p>
        </p:txBody>
      </p:sp>
      <p:pic>
        <p:nvPicPr>
          <p:cNvPr id="14" name="Picture 13" descr="Qr code&#10;&#10;Description automatically generated">
            <a:extLst>
              <a:ext uri="{FF2B5EF4-FFF2-40B4-BE49-F238E27FC236}">
                <a16:creationId xmlns:a16="http://schemas.microsoft.com/office/drawing/2014/main" id="{BA94C57D-C118-8C90-B123-13B1ABC6B0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495" y="2094"/>
            <a:ext cx="2545705" cy="29715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D76D85-6F47-7B4D-9220-67A403766B85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e92871bb-1a3d-45ca-aa46-55501e1859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3656</Words>
  <Application>Microsoft Macintosh PowerPoint</Application>
  <PresentationFormat>Widescreen</PresentationFormat>
  <Paragraphs>520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Cambria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Woodruff</cp:lastModifiedBy>
  <cp:revision>14</cp:revision>
  <dcterms:created xsi:type="dcterms:W3CDTF">2026-08-14T15:24:47Z</dcterms:created>
  <dcterms:modified xsi:type="dcterms:W3CDTF">2026-09-22T16:24:51Z</dcterms:modified>
</cp:coreProperties>
</file>